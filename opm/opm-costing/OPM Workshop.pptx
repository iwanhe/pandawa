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8" r:id="rId14"/>
    <p:sldId id="267" r:id="rId15"/>
    <p:sldId id="270" r:id="rId16"/>
    <p:sldId id="271" r:id="rId17"/>
    <p:sldId id="274" r:id="rId18"/>
    <p:sldId id="272" r:id="rId19"/>
    <p:sldId id="275" r:id="rId20"/>
    <p:sldId id="273" r:id="rId21"/>
    <p:sldId id="277" r:id="rId22"/>
    <p:sldId id="279" r:id="rId23"/>
    <p:sldId id="280" r:id="rId24"/>
    <p:sldId id="281" r:id="rId25"/>
    <p:sldId id="285" r:id="rId26"/>
    <p:sldId id="282" r:id="rId27"/>
    <p:sldId id="283" r:id="rId28"/>
    <p:sldId id="284" r:id="rId29"/>
    <p:sldId id="286" r:id="rId30"/>
    <p:sldId id="287" r:id="rId31"/>
    <p:sldId id="288" r:id="rId32"/>
    <p:sldId id="289" r:id="rId33"/>
    <p:sldId id="27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1440"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8E6F66-5CB9-4BF5-AE5F-A818F3265E25}" type="doc">
      <dgm:prSet loTypeId="urn:microsoft.com/office/officeart/2005/8/layout/hProcess9" loCatId="process" qsTypeId="urn:microsoft.com/office/officeart/2005/8/quickstyle/3d3" qsCatId="3D" csTypeId="urn:microsoft.com/office/officeart/2005/8/colors/accent5_3" csCatId="accent5" phldr="1"/>
      <dgm:spPr/>
      <dgm:t>
        <a:bodyPr/>
        <a:lstStyle/>
        <a:p>
          <a:endParaRPr lang="en-US"/>
        </a:p>
      </dgm:t>
    </dgm:pt>
    <dgm:pt modelId="{98569F05-C357-498C-A0FF-D89899229AA0}">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id-ID" sz="1200" b="1" dirty="0" smtClean="0"/>
            <a:t>1. </a:t>
          </a:r>
        </a:p>
        <a:p>
          <a:r>
            <a:rPr lang="id-ID" sz="1200" b="1" dirty="0" smtClean="0"/>
            <a:t>Cost Types</a:t>
          </a:r>
        </a:p>
      </dgm:t>
    </dgm:pt>
    <dgm:pt modelId="{30AC69DC-2910-4BBA-B533-0BB82BF79222}" type="parTrans" cxnId="{AB57919C-D0EB-4D03-B047-112C3535DB66}">
      <dgm:prSet/>
      <dgm:spPr/>
      <dgm:t>
        <a:bodyPr/>
        <a:lstStyle/>
        <a:p>
          <a:endParaRPr lang="en-US"/>
        </a:p>
      </dgm:t>
    </dgm:pt>
    <dgm:pt modelId="{F9AFF51B-5957-4D93-B019-2EC14F7A5B75}" type="sibTrans" cxnId="{AB57919C-D0EB-4D03-B047-112C3535DB66}">
      <dgm:prSet/>
      <dgm:spPr/>
      <dgm:t>
        <a:bodyPr/>
        <a:lstStyle/>
        <a:p>
          <a:endParaRPr lang="en-US"/>
        </a:p>
      </dgm:t>
    </dgm:pt>
    <dgm:pt modelId="{6AAD84DD-2C81-47A0-BC63-15FB57CBCC00}">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id-ID" sz="1200" b="1" dirty="0" smtClean="0"/>
            <a:t>2. </a:t>
          </a:r>
        </a:p>
        <a:p>
          <a:r>
            <a:rPr lang="id-ID" sz="1200" b="1" dirty="0" smtClean="0"/>
            <a:t>Cost Calendar</a:t>
          </a:r>
        </a:p>
      </dgm:t>
    </dgm:pt>
    <dgm:pt modelId="{9C195255-4E7B-4616-9BD9-AB32784F525E}" type="parTrans" cxnId="{47AA6139-4F6E-46A9-A6E6-0FF4FC590B81}">
      <dgm:prSet/>
      <dgm:spPr/>
      <dgm:t>
        <a:bodyPr/>
        <a:lstStyle/>
        <a:p>
          <a:endParaRPr lang="en-US"/>
        </a:p>
      </dgm:t>
    </dgm:pt>
    <dgm:pt modelId="{AFA09326-DD0D-45EE-8BFE-C55A149E4EA6}" type="sibTrans" cxnId="{47AA6139-4F6E-46A9-A6E6-0FF4FC590B81}">
      <dgm:prSet/>
      <dgm:spPr/>
      <dgm:t>
        <a:bodyPr/>
        <a:lstStyle/>
        <a:p>
          <a:endParaRPr lang="en-US"/>
        </a:p>
      </dgm:t>
    </dgm:pt>
    <dgm:pt modelId="{4DFCA915-5048-4EDE-A90B-0D89BE40597D}">
      <dgm:prSet phldrT="[Text]" custT="1">
        <dgm:style>
          <a:lnRef idx="1">
            <a:schemeClr val="accent3"/>
          </a:lnRef>
          <a:fillRef idx="2">
            <a:schemeClr val="accent3"/>
          </a:fillRef>
          <a:effectRef idx="1">
            <a:schemeClr val="accent3"/>
          </a:effectRef>
          <a:fontRef idx="minor">
            <a:schemeClr val="dk1"/>
          </a:fontRef>
        </dgm:style>
      </dgm:prSet>
      <dgm:spPr>
        <a:solidFill>
          <a:schemeClr val="accent2">
            <a:lumMod val="20000"/>
            <a:lumOff val="80000"/>
          </a:schemeClr>
        </a:solidFill>
      </dgm:spPr>
      <dgm:t>
        <a:bodyPr/>
        <a:lstStyle/>
        <a:p>
          <a:r>
            <a:rPr lang="id-ID" sz="1200" b="1" dirty="0" smtClean="0"/>
            <a:t>3. </a:t>
          </a:r>
        </a:p>
        <a:p>
          <a:r>
            <a:rPr lang="id-ID" sz="1200" b="1" dirty="0" smtClean="0"/>
            <a:t>Component Groups</a:t>
          </a:r>
        </a:p>
      </dgm:t>
    </dgm:pt>
    <dgm:pt modelId="{034408E9-8872-484E-BCEF-0E86FAA353D5}" type="parTrans" cxnId="{619DAE84-AA75-44CA-AD66-75500FEAF78E}">
      <dgm:prSet/>
      <dgm:spPr/>
      <dgm:t>
        <a:bodyPr/>
        <a:lstStyle/>
        <a:p>
          <a:endParaRPr lang="en-US"/>
        </a:p>
      </dgm:t>
    </dgm:pt>
    <dgm:pt modelId="{9A786DFB-D4A1-4698-8009-DBE99DC3C5D0}" type="sibTrans" cxnId="{619DAE84-AA75-44CA-AD66-75500FEAF78E}">
      <dgm:prSet/>
      <dgm:spPr/>
      <dgm:t>
        <a:bodyPr/>
        <a:lstStyle/>
        <a:p>
          <a:endParaRPr lang="en-US"/>
        </a:p>
      </dgm:t>
    </dgm:pt>
    <dgm:pt modelId="{015BBBC4-9A73-4F3A-901B-16CFD9588B6D}">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id-ID" sz="1200" b="1" dirty="0" smtClean="0"/>
            <a:t>4. Component Classes</a:t>
          </a:r>
        </a:p>
      </dgm:t>
    </dgm:pt>
    <dgm:pt modelId="{3BE4A777-C2D0-4052-B0BA-8DB4A5FCB775}" type="parTrans" cxnId="{31F50348-E471-4FA3-B7CA-C7CE59ADF810}">
      <dgm:prSet/>
      <dgm:spPr/>
      <dgm:t>
        <a:bodyPr/>
        <a:lstStyle/>
        <a:p>
          <a:endParaRPr lang="en-US"/>
        </a:p>
      </dgm:t>
    </dgm:pt>
    <dgm:pt modelId="{9B9DE7A9-D30A-4D9C-8233-981D1E028F98}" type="sibTrans" cxnId="{31F50348-E471-4FA3-B7CA-C7CE59ADF810}">
      <dgm:prSet/>
      <dgm:spPr/>
      <dgm:t>
        <a:bodyPr/>
        <a:lstStyle/>
        <a:p>
          <a:endParaRPr lang="en-US"/>
        </a:p>
      </dgm:t>
    </dgm:pt>
    <dgm:pt modelId="{B873E4DE-6BA2-453D-80CF-C5D0FB42A859}">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id-ID" sz="1200" b="1" dirty="0" smtClean="0"/>
            <a:t>5. Analysis Code</a:t>
          </a:r>
        </a:p>
      </dgm:t>
    </dgm:pt>
    <dgm:pt modelId="{C5933D04-37A0-44A5-BAA1-D864752C37B6}" type="parTrans" cxnId="{3CEFB5DE-6322-4122-B71C-14C74801E692}">
      <dgm:prSet/>
      <dgm:spPr/>
      <dgm:t>
        <a:bodyPr/>
        <a:lstStyle/>
        <a:p>
          <a:endParaRPr lang="en-US"/>
        </a:p>
      </dgm:t>
    </dgm:pt>
    <dgm:pt modelId="{983B4C10-E4CE-4781-B379-72A44642FC72}" type="sibTrans" cxnId="{3CEFB5DE-6322-4122-B71C-14C74801E692}">
      <dgm:prSet/>
      <dgm:spPr/>
      <dgm:t>
        <a:bodyPr/>
        <a:lstStyle/>
        <a:p>
          <a:endParaRPr lang="en-US"/>
        </a:p>
      </dgm:t>
    </dgm:pt>
    <dgm:pt modelId="{2C8E6A36-9C13-4FE5-89B1-E30DC56C3DB2}">
      <dgm:prSet phldrT="[Text]" custT="1">
        <dgm:style>
          <a:lnRef idx="1">
            <a:schemeClr val="accent3"/>
          </a:lnRef>
          <a:fillRef idx="2">
            <a:schemeClr val="accent3"/>
          </a:fillRef>
          <a:effectRef idx="1">
            <a:schemeClr val="accent3"/>
          </a:effectRef>
          <a:fontRef idx="minor">
            <a:schemeClr val="dk1"/>
          </a:fontRef>
        </dgm:style>
      </dgm:prSet>
      <dgm:spPr>
        <a:solidFill>
          <a:schemeClr val="accent2">
            <a:lumMod val="20000"/>
            <a:lumOff val="80000"/>
          </a:schemeClr>
        </a:solidFill>
      </dgm:spPr>
      <dgm:t>
        <a:bodyPr/>
        <a:lstStyle/>
        <a:p>
          <a:r>
            <a:rPr lang="id-ID" sz="1200" b="1" dirty="0" smtClean="0"/>
            <a:t>6. </a:t>
          </a:r>
        </a:p>
        <a:p>
          <a:r>
            <a:rPr lang="id-ID" sz="1200" b="1" dirty="0" smtClean="0"/>
            <a:t>Costing Organization Associations</a:t>
          </a:r>
        </a:p>
      </dgm:t>
    </dgm:pt>
    <dgm:pt modelId="{484C4A56-4FE3-4B56-BD9C-4814BC4E66D3}" type="parTrans" cxnId="{161DD653-9944-4CDC-8829-2FFF531F316A}">
      <dgm:prSet/>
      <dgm:spPr/>
      <dgm:t>
        <a:bodyPr/>
        <a:lstStyle/>
        <a:p>
          <a:endParaRPr lang="en-US"/>
        </a:p>
      </dgm:t>
    </dgm:pt>
    <dgm:pt modelId="{CAC4F653-EF1B-46B6-802E-315DD27BF547}" type="sibTrans" cxnId="{161DD653-9944-4CDC-8829-2FFF531F316A}">
      <dgm:prSet/>
      <dgm:spPr/>
      <dgm:t>
        <a:bodyPr/>
        <a:lstStyle/>
        <a:p>
          <a:endParaRPr lang="en-US"/>
        </a:p>
      </dgm:t>
    </dgm:pt>
    <dgm:pt modelId="{0BD13DF7-3571-431A-AA84-E6DDB22341AB}">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id-ID" sz="1200" b="1" dirty="0" smtClean="0"/>
            <a:t>7. </a:t>
          </a:r>
        </a:p>
        <a:p>
          <a:r>
            <a:rPr lang="id-ID" sz="1200" b="1" dirty="0" smtClean="0"/>
            <a:t>GL Fiscal Policy</a:t>
          </a:r>
        </a:p>
      </dgm:t>
    </dgm:pt>
    <dgm:pt modelId="{E3CC9624-5E65-49AE-9A66-CD9C790D33E3}" type="parTrans" cxnId="{165E1767-706F-4CA2-B167-6907008C65E8}">
      <dgm:prSet/>
      <dgm:spPr/>
      <dgm:t>
        <a:bodyPr/>
        <a:lstStyle/>
        <a:p>
          <a:endParaRPr lang="en-US"/>
        </a:p>
      </dgm:t>
    </dgm:pt>
    <dgm:pt modelId="{E2FD942B-B615-4802-A89B-9B03D3C64F4F}" type="sibTrans" cxnId="{165E1767-706F-4CA2-B167-6907008C65E8}">
      <dgm:prSet/>
      <dgm:spPr/>
      <dgm:t>
        <a:bodyPr/>
        <a:lstStyle/>
        <a:p>
          <a:endParaRPr lang="en-US"/>
        </a:p>
      </dgm:t>
    </dgm:pt>
    <dgm:pt modelId="{30CDA93A-353F-4FC3-8BB6-F34A2A213661}" type="pres">
      <dgm:prSet presAssocID="{2D8E6F66-5CB9-4BF5-AE5F-A818F3265E25}" presName="CompostProcess" presStyleCnt="0">
        <dgm:presLayoutVars>
          <dgm:dir/>
          <dgm:resizeHandles val="exact"/>
        </dgm:presLayoutVars>
      </dgm:prSet>
      <dgm:spPr/>
      <dgm:t>
        <a:bodyPr/>
        <a:lstStyle/>
        <a:p>
          <a:endParaRPr lang="en-US"/>
        </a:p>
      </dgm:t>
    </dgm:pt>
    <dgm:pt modelId="{2BFEABC3-70F2-4DBE-B62E-1965147494F0}" type="pres">
      <dgm:prSet presAssocID="{2D8E6F66-5CB9-4BF5-AE5F-A818F3265E25}" presName="arrow" presStyleLbl="bgShp" presStyleIdx="0" presStyleCnt="1" custScaleX="117647" custLinFactNeighborX="980">
        <dgm:style>
          <a:lnRef idx="0">
            <a:schemeClr val="accent3"/>
          </a:lnRef>
          <a:fillRef idx="3">
            <a:schemeClr val="accent3"/>
          </a:fillRef>
          <a:effectRef idx="3">
            <a:schemeClr val="accent3"/>
          </a:effectRef>
          <a:fontRef idx="minor">
            <a:schemeClr val="lt1"/>
          </a:fontRef>
        </dgm:style>
      </dgm:prSet>
      <dgm:spPr/>
    </dgm:pt>
    <dgm:pt modelId="{E76E1FF0-76F4-43F8-A0DE-947F96DD0D11}" type="pres">
      <dgm:prSet presAssocID="{2D8E6F66-5CB9-4BF5-AE5F-A818F3265E25}" presName="linearProcess" presStyleCnt="0"/>
      <dgm:spPr/>
    </dgm:pt>
    <dgm:pt modelId="{9CC4E566-F50C-4CF7-AC53-9E3E112CCFB7}" type="pres">
      <dgm:prSet presAssocID="{98569F05-C357-498C-A0FF-D89899229AA0}" presName="textNode" presStyleLbl="node1" presStyleIdx="0" presStyleCnt="7">
        <dgm:presLayoutVars>
          <dgm:bulletEnabled val="1"/>
        </dgm:presLayoutVars>
      </dgm:prSet>
      <dgm:spPr/>
      <dgm:t>
        <a:bodyPr/>
        <a:lstStyle/>
        <a:p>
          <a:endParaRPr lang="en-US"/>
        </a:p>
      </dgm:t>
    </dgm:pt>
    <dgm:pt modelId="{DB1800B3-3E5C-4A8A-83B1-8200662CC7B4}" type="pres">
      <dgm:prSet presAssocID="{F9AFF51B-5957-4D93-B019-2EC14F7A5B75}" presName="sibTrans" presStyleCnt="0"/>
      <dgm:spPr/>
    </dgm:pt>
    <dgm:pt modelId="{4E4AFC5A-2CFB-4085-90E6-06E49641268C}" type="pres">
      <dgm:prSet presAssocID="{6AAD84DD-2C81-47A0-BC63-15FB57CBCC00}" presName="textNode" presStyleLbl="node1" presStyleIdx="1" presStyleCnt="7" custLinFactNeighborX="-60688">
        <dgm:presLayoutVars>
          <dgm:bulletEnabled val="1"/>
        </dgm:presLayoutVars>
      </dgm:prSet>
      <dgm:spPr/>
      <dgm:t>
        <a:bodyPr/>
        <a:lstStyle/>
        <a:p>
          <a:endParaRPr lang="en-US"/>
        </a:p>
      </dgm:t>
    </dgm:pt>
    <dgm:pt modelId="{0FA8AE33-1E7B-472B-B697-3552B3E70546}" type="pres">
      <dgm:prSet presAssocID="{AFA09326-DD0D-45EE-8BFE-C55A149E4EA6}" presName="sibTrans" presStyleCnt="0"/>
      <dgm:spPr/>
    </dgm:pt>
    <dgm:pt modelId="{1FF90A60-E67F-4C80-88CD-F182DD677B01}" type="pres">
      <dgm:prSet presAssocID="{4DFCA915-5048-4EDE-A90B-0D89BE40597D}" presName="textNode" presStyleLbl="node1" presStyleIdx="2" presStyleCnt="7" custScaleX="127076" custLinFactX="-1904" custLinFactNeighborX="-100000">
        <dgm:presLayoutVars>
          <dgm:bulletEnabled val="1"/>
        </dgm:presLayoutVars>
      </dgm:prSet>
      <dgm:spPr/>
      <dgm:t>
        <a:bodyPr/>
        <a:lstStyle/>
        <a:p>
          <a:endParaRPr lang="en-US"/>
        </a:p>
      </dgm:t>
    </dgm:pt>
    <dgm:pt modelId="{C3EA37B8-FD7B-40E4-AA2E-A78F2B7A98A4}" type="pres">
      <dgm:prSet presAssocID="{9A786DFB-D4A1-4698-8009-DBE99DC3C5D0}" presName="sibTrans" presStyleCnt="0"/>
      <dgm:spPr/>
    </dgm:pt>
    <dgm:pt modelId="{AC18F761-2048-47FB-84F6-500F4FE6D369}" type="pres">
      <dgm:prSet presAssocID="{015BBBC4-9A73-4F3A-901B-16CFD9588B6D}" presName="textNode" presStyleLbl="node1" presStyleIdx="3" presStyleCnt="7" custScaleX="130158" custLinFactX="-10762" custLinFactNeighborX="-100000">
        <dgm:presLayoutVars>
          <dgm:bulletEnabled val="1"/>
        </dgm:presLayoutVars>
      </dgm:prSet>
      <dgm:spPr/>
      <dgm:t>
        <a:bodyPr/>
        <a:lstStyle/>
        <a:p>
          <a:endParaRPr lang="en-US"/>
        </a:p>
      </dgm:t>
    </dgm:pt>
    <dgm:pt modelId="{48551447-AFCB-4CC0-BC3B-BBB03E7A01BD}" type="pres">
      <dgm:prSet presAssocID="{9B9DE7A9-D30A-4D9C-8233-981D1E028F98}" presName="sibTrans" presStyleCnt="0"/>
      <dgm:spPr/>
    </dgm:pt>
    <dgm:pt modelId="{DCE20B84-8D23-452F-B10D-4BB5567CBE37}" type="pres">
      <dgm:prSet presAssocID="{B873E4DE-6BA2-453D-80CF-C5D0FB42A859}" presName="textNode" presStyleLbl="node1" presStyleIdx="4" presStyleCnt="7" custLinFactX="-16109" custLinFactNeighborX="-100000">
        <dgm:presLayoutVars>
          <dgm:bulletEnabled val="1"/>
        </dgm:presLayoutVars>
      </dgm:prSet>
      <dgm:spPr/>
      <dgm:t>
        <a:bodyPr/>
        <a:lstStyle/>
        <a:p>
          <a:endParaRPr lang="en-US"/>
        </a:p>
      </dgm:t>
    </dgm:pt>
    <dgm:pt modelId="{634E8068-CD99-4C65-A0BD-4F89BB7A2E1F}" type="pres">
      <dgm:prSet presAssocID="{983B4C10-E4CE-4781-B379-72A44642FC72}" presName="sibTrans" presStyleCnt="0"/>
      <dgm:spPr/>
    </dgm:pt>
    <dgm:pt modelId="{8CC6A18F-AF79-4FC2-9FB4-CE8296EDF7AE}" type="pres">
      <dgm:prSet presAssocID="{2C8E6A36-9C13-4FE5-89B1-E30DC56C3DB2}" presName="textNode" presStyleLbl="node1" presStyleIdx="5" presStyleCnt="7" custScaleX="135662" custLinFactX="-21083" custLinFactNeighborX="-100000">
        <dgm:presLayoutVars>
          <dgm:bulletEnabled val="1"/>
        </dgm:presLayoutVars>
      </dgm:prSet>
      <dgm:spPr/>
      <dgm:t>
        <a:bodyPr/>
        <a:lstStyle/>
        <a:p>
          <a:endParaRPr lang="en-US"/>
        </a:p>
      </dgm:t>
    </dgm:pt>
    <dgm:pt modelId="{80274572-4521-4210-A9BB-7F5A542F2E75}" type="pres">
      <dgm:prSet presAssocID="{CAC4F653-EF1B-46B6-802E-315DD27BF547}" presName="sibTrans" presStyleCnt="0"/>
      <dgm:spPr/>
    </dgm:pt>
    <dgm:pt modelId="{D670C42F-0970-4825-9180-E2F90075184C}" type="pres">
      <dgm:prSet presAssocID="{0BD13DF7-3571-431A-AA84-E6DDB22341AB}" presName="textNode" presStyleLbl="node1" presStyleIdx="6" presStyleCnt="7" custScaleX="127045" custLinFactX="-24914" custLinFactNeighborX="-100000">
        <dgm:presLayoutVars>
          <dgm:bulletEnabled val="1"/>
        </dgm:presLayoutVars>
      </dgm:prSet>
      <dgm:spPr/>
      <dgm:t>
        <a:bodyPr/>
        <a:lstStyle/>
        <a:p>
          <a:endParaRPr lang="en-US"/>
        </a:p>
      </dgm:t>
    </dgm:pt>
  </dgm:ptLst>
  <dgm:cxnLst>
    <dgm:cxn modelId="{AB57919C-D0EB-4D03-B047-112C3535DB66}" srcId="{2D8E6F66-5CB9-4BF5-AE5F-A818F3265E25}" destId="{98569F05-C357-498C-A0FF-D89899229AA0}" srcOrd="0" destOrd="0" parTransId="{30AC69DC-2910-4BBA-B533-0BB82BF79222}" sibTransId="{F9AFF51B-5957-4D93-B019-2EC14F7A5B75}"/>
    <dgm:cxn modelId="{31F50348-E471-4FA3-B7CA-C7CE59ADF810}" srcId="{2D8E6F66-5CB9-4BF5-AE5F-A818F3265E25}" destId="{015BBBC4-9A73-4F3A-901B-16CFD9588B6D}" srcOrd="3" destOrd="0" parTransId="{3BE4A777-C2D0-4052-B0BA-8DB4A5FCB775}" sibTransId="{9B9DE7A9-D30A-4D9C-8233-981D1E028F98}"/>
    <dgm:cxn modelId="{88C3F0CC-3ECD-4171-ADE0-E41EFE3A6C91}" type="presOf" srcId="{2C8E6A36-9C13-4FE5-89B1-E30DC56C3DB2}" destId="{8CC6A18F-AF79-4FC2-9FB4-CE8296EDF7AE}" srcOrd="0" destOrd="0" presId="urn:microsoft.com/office/officeart/2005/8/layout/hProcess9"/>
    <dgm:cxn modelId="{47AA6139-4F6E-46A9-A6E6-0FF4FC590B81}" srcId="{2D8E6F66-5CB9-4BF5-AE5F-A818F3265E25}" destId="{6AAD84DD-2C81-47A0-BC63-15FB57CBCC00}" srcOrd="1" destOrd="0" parTransId="{9C195255-4E7B-4616-9BD9-AB32784F525E}" sibTransId="{AFA09326-DD0D-45EE-8BFE-C55A149E4EA6}"/>
    <dgm:cxn modelId="{619DAE84-AA75-44CA-AD66-75500FEAF78E}" srcId="{2D8E6F66-5CB9-4BF5-AE5F-A818F3265E25}" destId="{4DFCA915-5048-4EDE-A90B-0D89BE40597D}" srcOrd="2" destOrd="0" parTransId="{034408E9-8872-484E-BCEF-0E86FAA353D5}" sibTransId="{9A786DFB-D4A1-4698-8009-DBE99DC3C5D0}"/>
    <dgm:cxn modelId="{161DD653-9944-4CDC-8829-2FFF531F316A}" srcId="{2D8E6F66-5CB9-4BF5-AE5F-A818F3265E25}" destId="{2C8E6A36-9C13-4FE5-89B1-E30DC56C3DB2}" srcOrd="5" destOrd="0" parTransId="{484C4A56-4FE3-4B56-BD9C-4814BC4E66D3}" sibTransId="{CAC4F653-EF1B-46B6-802E-315DD27BF547}"/>
    <dgm:cxn modelId="{8C6CBE30-B4B5-4EAC-8DC0-FB25B8DB5418}" type="presOf" srcId="{2D8E6F66-5CB9-4BF5-AE5F-A818F3265E25}" destId="{30CDA93A-353F-4FC3-8BB6-F34A2A213661}" srcOrd="0" destOrd="0" presId="urn:microsoft.com/office/officeart/2005/8/layout/hProcess9"/>
    <dgm:cxn modelId="{359C4F89-7490-4604-AA6F-218042B7524D}" type="presOf" srcId="{B873E4DE-6BA2-453D-80CF-C5D0FB42A859}" destId="{DCE20B84-8D23-452F-B10D-4BB5567CBE37}" srcOrd="0" destOrd="0" presId="urn:microsoft.com/office/officeart/2005/8/layout/hProcess9"/>
    <dgm:cxn modelId="{C6A43074-E2B9-4F22-BABC-B5AE75DC3044}" type="presOf" srcId="{4DFCA915-5048-4EDE-A90B-0D89BE40597D}" destId="{1FF90A60-E67F-4C80-88CD-F182DD677B01}" srcOrd="0" destOrd="0" presId="urn:microsoft.com/office/officeart/2005/8/layout/hProcess9"/>
    <dgm:cxn modelId="{3CEFB5DE-6322-4122-B71C-14C74801E692}" srcId="{2D8E6F66-5CB9-4BF5-AE5F-A818F3265E25}" destId="{B873E4DE-6BA2-453D-80CF-C5D0FB42A859}" srcOrd="4" destOrd="0" parTransId="{C5933D04-37A0-44A5-BAA1-D864752C37B6}" sibTransId="{983B4C10-E4CE-4781-B379-72A44642FC72}"/>
    <dgm:cxn modelId="{7DF7263B-A55F-459E-A967-A0BEB2CC6594}" type="presOf" srcId="{015BBBC4-9A73-4F3A-901B-16CFD9588B6D}" destId="{AC18F761-2048-47FB-84F6-500F4FE6D369}" srcOrd="0" destOrd="0" presId="urn:microsoft.com/office/officeart/2005/8/layout/hProcess9"/>
    <dgm:cxn modelId="{5230EBBA-5825-4EB6-9A7E-DFEE76957984}" type="presOf" srcId="{0BD13DF7-3571-431A-AA84-E6DDB22341AB}" destId="{D670C42F-0970-4825-9180-E2F90075184C}" srcOrd="0" destOrd="0" presId="urn:microsoft.com/office/officeart/2005/8/layout/hProcess9"/>
    <dgm:cxn modelId="{75117988-F405-447D-81BF-278FF0BA5399}" type="presOf" srcId="{98569F05-C357-498C-A0FF-D89899229AA0}" destId="{9CC4E566-F50C-4CF7-AC53-9E3E112CCFB7}" srcOrd="0" destOrd="0" presId="urn:microsoft.com/office/officeart/2005/8/layout/hProcess9"/>
    <dgm:cxn modelId="{165E1767-706F-4CA2-B167-6907008C65E8}" srcId="{2D8E6F66-5CB9-4BF5-AE5F-A818F3265E25}" destId="{0BD13DF7-3571-431A-AA84-E6DDB22341AB}" srcOrd="6" destOrd="0" parTransId="{E3CC9624-5E65-49AE-9A66-CD9C790D33E3}" sibTransId="{E2FD942B-B615-4802-A89B-9B03D3C64F4F}"/>
    <dgm:cxn modelId="{98F85487-E2CE-4A7D-B178-CE2A33E8F325}" type="presOf" srcId="{6AAD84DD-2C81-47A0-BC63-15FB57CBCC00}" destId="{4E4AFC5A-2CFB-4085-90E6-06E49641268C}" srcOrd="0" destOrd="0" presId="urn:microsoft.com/office/officeart/2005/8/layout/hProcess9"/>
    <dgm:cxn modelId="{B673F684-E7E7-41E7-A568-EECD09404924}" type="presParOf" srcId="{30CDA93A-353F-4FC3-8BB6-F34A2A213661}" destId="{2BFEABC3-70F2-4DBE-B62E-1965147494F0}" srcOrd="0" destOrd="0" presId="urn:microsoft.com/office/officeart/2005/8/layout/hProcess9"/>
    <dgm:cxn modelId="{4C0055D6-9899-4474-BC2B-CDAB1E01DE1D}" type="presParOf" srcId="{30CDA93A-353F-4FC3-8BB6-F34A2A213661}" destId="{E76E1FF0-76F4-43F8-A0DE-947F96DD0D11}" srcOrd="1" destOrd="0" presId="urn:microsoft.com/office/officeart/2005/8/layout/hProcess9"/>
    <dgm:cxn modelId="{EFECAF03-31B5-4859-A43B-34C0F80B4670}" type="presParOf" srcId="{E76E1FF0-76F4-43F8-A0DE-947F96DD0D11}" destId="{9CC4E566-F50C-4CF7-AC53-9E3E112CCFB7}" srcOrd="0" destOrd="0" presId="urn:microsoft.com/office/officeart/2005/8/layout/hProcess9"/>
    <dgm:cxn modelId="{AEA965AF-96F2-40F8-A349-DC7B0BED8324}" type="presParOf" srcId="{E76E1FF0-76F4-43F8-A0DE-947F96DD0D11}" destId="{DB1800B3-3E5C-4A8A-83B1-8200662CC7B4}" srcOrd="1" destOrd="0" presId="urn:microsoft.com/office/officeart/2005/8/layout/hProcess9"/>
    <dgm:cxn modelId="{9A62DCFF-80C6-40A7-9E46-16CC1FA5150A}" type="presParOf" srcId="{E76E1FF0-76F4-43F8-A0DE-947F96DD0D11}" destId="{4E4AFC5A-2CFB-4085-90E6-06E49641268C}" srcOrd="2" destOrd="0" presId="urn:microsoft.com/office/officeart/2005/8/layout/hProcess9"/>
    <dgm:cxn modelId="{53401B2F-E2F3-471C-B927-914DEEFF133A}" type="presParOf" srcId="{E76E1FF0-76F4-43F8-A0DE-947F96DD0D11}" destId="{0FA8AE33-1E7B-472B-B697-3552B3E70546}" srcOrd="3" destOrd="0" presId="urn:microsoft.com/office/officeart/2005/8/layout/hProcess9"/>
    <dgm:cxn modelId="{D2730C76-6F35-4F7A-AE25-753A23005039}" type="presParOf" srcId="{E76E1FF0-76F4-43F8-A0DE-947F96DD0D11}" destId="{1FF90A60-E67F-4C80-88CD-F182DD677B01}" srcOrd="4" destOrd="0" presId="urn:microsoft.com/office/officeart/2005/8/layout/hProcess9"/>
    <dgm:cxn modelId="{42DD5677-36CE-4BCE-AF4E-4320F9319DC3}" type="presParOf" srcId="{E76E1FF0-76F4-43F8-A0DE-947F96DD0D11}" destId="{C3EA37B8-FD7B-40E4-AA2E-A78F2B7A98A4}" srcOrd="5" destOrd="0" presId="urn:microsoft.com/office/officeart/2005/8/layout/hProcess9"/>
    <dgm:cxn modelId="{7C0CA69E-8680-4CEB-8B9B-D2F54FA4CD0D}" type="presParOf" srcId="{E76E1FF0-76F4-43F8-A0DE-947F96DD0D11}" destId="{AC18F761-2048-47FB-84F6-500F4FE6D369}" srcOrd="6" destOrd="0" presId="urn:microsoft.com/office/officeart/2005/8/layout/hProcess9"/>
    <dgm:cxn modelId="{CEE11749-AF37-4919-ACAD-8004F46D103E}" type="presParOf" srcId="{E76E1FF0-76F4-43F8-A0DE-947F96DD0D11}" destId="{48551447-AFCB-4CC0-BC3B-BBB03E7A01BD}" srcOrd="7" destOrd="0" presId="urn:microsoft.com/office/officeart/2005/8/layout/hProcess9"/>
    <dgm:cxn modelId="{A519FBC9-C056-4FBF-898B-023E7B7CCB1E}" type="presParOf" srcId="{E76E1FF0-76F4-43F8-A0DE-947F96DD0D11}" destId="{DCE20B84-8D23-452F-B10D-4BB5567CBE37}" srcOrd="8" destOrd="0" presId="urn:microsoft.com/office/officeart/2005/8/layout/hProcess9"/>
    <dgm:cxn modelId="{BC8A81CB-9E66-4DBD-AC43-001799E5B611}" type="presParOf" srcId="{E76E1FF0-76F4-43F8-A0DE-947F96DD0D11}" destId="{634E8068-CD99-4C65-A0BD-4F89BB7A2E1F}" srcOrd="9" destOrd="0" presId="urn:microsoft.com/office/officeart/2005/8/layout/hProcess9"/>
    <dgm:cxn modelId="{58B513FF-BD5A-41A9-B8C8-748959BEA51B}" type="presParOf" srcId="{E76E1FF0-76F4-43F8-A0DE-947F96DD0D11}" destId="{8CC6A18F-AF79-4FC2-9FB4-CE8296EDF7AE}" srcOrd="10" destOrd="0" presId="urn:microsoft.com/office/officeart/2005/8/layout/hProcess9"/>
    <dgm:cxn modelId="{2F88C419-BF8C-49AD-82FF-08DD6A726FFC}" type="presParOf" srcId="{E76E1FF0-76F4-43F8-A0DE-947F96DD0D11}" destId="{80274572-4521-4210-A9BB-7F5A542F2E75}" srcOrd="11" destOrd="0" presId="urn:microsoft.com/office/officeart/2005/8/layout/hProcess9"/>
    <dgm:cxn modelId="{85104E95-17DD-4124-8D01-3BA0B8EEB626}" type="presParOf" srcId="{E76E1FF0-76F4-43F8-A0DE-947F96DD0D11}" destId="{D670C42F-0970-4825-9180-E2F90075184C}" srcOrd="12" destOrd="0" presId="urn:microsoft.com/office/officeart/2005/8/layout/hProcess9"/>
  </dgm:cxnLst>
  <dgm:bg/>
  <dgm:whole/>
</dgm:dataModel>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F27E39-24DD-41E7-A417-602A642CF425}" type="datetimeFigureOut">
              <a:rPr lang="en-US" smtClean="0"/>
              <a:t>11/20/2017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F48584-73F9-4B56-86A6-1805A6E7F2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xfrm>
            <a:off x="409575" y="701675"/>
            <a:ext cx="6226175" cy="3503613"/>
          </a:xfrm>
          <a:noFill/>
          <a:ln>
            <a:solidFill>
              <a:srgbClr val="000000"/>
            </a:solidFill>
            <a:miter lim="800000"/>
            <a:headEnd/>
            <a:tailEnd/>
          </a:ln>
        </p:spPr>
      </p:sp>
      <p:sp>
        <p:nvSpPr>
          <p:cNvPr id="34819" name="Rectangle 3"/>
          <p:cNvSpPr>
            <a:spLocks noGrp="1"/>
          </p:cNvSpPr>
          <p:nvPr>
            <p:ph type="body" idx="1"/>
          </p:nvPr>
        </p:nvSpPr>
        <p:spPr>
          <a:noFill/>
          <a:ln/>
        </p:spPr>
        <p:txBody>
          <a:bodyPr/>
          <a:lstStyle/>
          <a:p>
            <a:pPr eaLnBrk="1" hangingPunct="1"/>
            <a:endParaRPr lang="en-GB" smtClean="0"/>
          </a:p>
        </p:txBody>
      </p:sp>
    </p:spTree>
    <p:extLst>
      <p:ext uri="{BB962C8B-B14F-4D97-AF65-F5344CB8AC3E}">
        <p14:creationId xmlns:p14="http://schemas.microsoft.com/office/powerpoint/2010/main" xmlns="" val="648908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98FF03-EA6E-4026-A7C6-E9CDB2950E2F}" type="datetimeFigureOut">
              <a:rPr lang="en-US" smtClean="0"/>
              <a:t>11/20/2017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98FF03-EA6E-4026-A7C6-E9CDB2950E2F}" type="datetimeFigureOut">
              <a:rPr lang="en-US" smtClean="0"/>
              <a:t>11/20/2017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98FF03-EA6E-4026-A7C6-E9CDB2950E2F}" type="datetimeFigureOut">
              <a:rPr lang="en-US" smtClean="0"/>
              <a:t>11/20/2017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98FF03-EA6E-4026-A7C6-E9CDB2950E2F}" type="datetimeFigureOut">
              <a:rPr lang="en-US" smtClean="0"/>
              <a:t>11/20/2017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98FF03-EA6E-4026-A7C6-E9CDB2950E2F}" type="datetimeFigureOut">
              <a:rPr lang="en-US" smtClean="0"/>
              <a:t>11/20/2017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98FF03-EA6E-4026-A7C6-E9CDB2950E2F}" type="datetimeFigureOut">
              <a:rPr lang="en-US" smtClean="0"/>
              <a:t>11/20/2017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98FF03-EA6E-4026-A7C6-E9CDB2950E2F}" type="datetimeFigureOut">
              <a:rPr lang="en-US" smtClean="0"/>
              <a:t>11/20/2017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98FF03-EA6E-4026-A7C6-E9CDB2950E2F}" type="datetimeFigureOut">
              <a:rPr lang="en-US" smtClean="0"/>
              <a:t>11/20/2017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98FF03-EA6E-4026-A7C6-E9CDB2950E2F}" type="datetimeFigureOut">
              <a:rPr lang="en-US" smtClean="0"/>
              <a:t>11/20/2017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98FF03-EA6E-4026-A7C6-E9CDB2950E2F}" type="datetimeFigureOut">
              <a:rPr lang="en-US" smtClean="0"/>
              <a:t>11/20/2017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98FF03-EA6E-4026-A7C6-E9CDB2950E2F}" type="datetimeFigureOut">
              <a:rPr lang="en-US" smtClean="0"/>
              <a:t>11/20/2017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A37CEE-6ED6-45CB-BD55-B602F54C57B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3FD7C4-BED7-427E-B4DC-B2D62A820E90}" type="datetimeFigureOut">
              <a:rPr lang="en-US" smtClean="0"/>
              <a:pPr/>
              <a:t>11/20/2017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3355CFF-378A-4A08-88F2-551E64D1BBC9}" type="slidenum">
              <a:rPr lang="en-US" smtClean="0"/>
              <a:pPr/>
              <a:t>‹#›</a:t>
            </a:fld>
            <a:endParaRPr lang="en-US" dirty="0"/>
          </a:p>
        </p:txBody>
      </p:sp>
      <p:pic>
        <p:nvPicPr>
          <p:cNvPr id="6" name="Content Placeholder 3" descr="Untitled-12b.jpg"/>
          <p:cNvPicPr>
            <a:picLocks noChangeAspect="1"/>
          </p:cNvPicPr>
          <p:nvPr userDrawn="1"/>
        </p:nvPicPr>
        <p:blipFill>
          <a:blip r:embed="rId2" cstate="print"/>
          <a:stretch>
            <a:fillRect/>
          </a:stretch>
        </p:blipFill>
        <p:spPr>
          <a:xfrm>
            <a:off x="0" y="34"/>
            <a:ext cx="9144000" cy="6705601"/>
          </a:xfrm>
          <a:prstGeom prst="rect">
            <a:avLst/>
          </a:prstGeom>
        </p:spPr>
      </p:pic>
      <p:pic>
        <p:nvPicPr>
          <p:cNvPr id="7" name="Content Placeholder 5" descr="AMPLOP.jpg"/>
          <p:cNvPicPr>
            <a:picLocks noChangeAspect="1"/>
          </p:cNvPicPr>
          <p:nvPr userDrawn="1"/>
        </p:nvPicPr>
        <p:blipFill>
          <a:blip r:embed="rId3" cstate="print"/>
          <a:stretch>
            <a:fillRect/>
          </a:stretch>
        </p:blipFill>
        <p:spPr>
          <a:xfrm>
            <a:off x="492369" y="4162254"/>
            <a:ext cx="2110154" cy="2162348"/>
          </a:xfrm>
          <a:prstGeom prst="rect">
            <a:avLst/>
          </a:prstGeom>
          <a:effectLst>
            <a:glow>
              <a:schemeClr val="accent1">
                <a:alpha val="40000"/>
              </a:schemeClr>
            </a:glow>
            <a:reflection endPos="0" dir="5400000" sy="-100000" algn="bl" rotWithShape="0"/>
          </a:effectLst>
        </p:spPr>
      </p:pic>
      <p:sp>
        <p:nvSpPr>
          <p:cNvPr id="8" name="Text Box 9"/>
          <p:cNvSpPr txBox="1">
            <a:spLocks noChangeArrowheads="1"/>
          </p:cNvSpPr>
          <p:nvPr userDrawn="1"/>
        </p:nvSpPr>
        <p:spPr bwMode="auto">
          <a:xfrm>
            <a:off x="6740769" y="6471475"/>
            <a:ext cx="1828800" cy="215444"/>
          </a:xfrm>
          <a:prstGeom prst="rect">
            <a:avLst/>
          </a:prstGeom>
          <a:noFill/>
          <a:ln w="9525">
            <a:noFill/>
            <a:miter lim="800000"/>
            <a:headEnd/>
            <a:tailEnd/>
          </a:ln>
          <a:effectLst/>
        </p:spPr>
        <p:txBody>
          <a:bodyPr>
            <a:spAutoFit/>
          </a:bodyPr>
          <a:lstStyle/>
          <a:p>
            <a:pPr algn="r"/>
            <a:r>
              <a:rPr lang="en-US" sz="800" dirty="0">
                <a:solidFill>
                  <a:schemeClr val="accent3">
                    <a:lumMod val="50000"/>
                  </a:schemeClr>
                </a:solidFill>
                <a:cs typeface="Arial" pitchFamily="34" charset="0"/>
              </a:rPr>
              <a:t>© Copyright </a:t>
            </a:r>
            <a:r>
              <a:rPr lang="en-US" sz="800" dirty="0" smtClean="0">
                <a:solidFill>
                  <a:schemeClr val="accent3">
                    <a:lumMod val="50000"/>
                  </a:schemeClr>
                </a:solidFill>
                <a:cs typeface="Arial" pitchFamily="34" charset="0"/>
              </a:rPr>
              <a:t>Trees  </a:t>
            </a:r>
            <a:r>
              <a:rPr lang="en-US" sz="800" dirty="0">
                <a:solidFill>
                  <a:schemeClr val="accent3">
                    <a:lumMod val="50000"/>
                  </a:schemeClr>
                </a:solidFill>
                <a:cs typeface="Arial" pitchFamily="34" charset="0"/>
              </a:rPr>
              <a:t>- </a:t>
            </a:r>
            <a:r>
              <a:rPr lang="en-US" sz="800" dirty="0" smtClean="0">
                <a:solidFill>
                  <a:schemeClr val="accent3">
                    <a:lumMod val="50000"/>
                  </a:schemeClr>
                </a:solidFill>
                <a:cs typeface="Arial" pitchFamily="34" charset="0"/>
              </a:rPr>
              <a:t>2012</a:t>
            </a:r>
            <a:endParaRPr lang="en-US" sz="800" dirty="0">
              <a:solidFill>
                <a:schemeClr val="accent3">
                  <a:lumMod val="50000"/>
                </a:schemeClr>
              </a:solidFill>
              <a:cs typeface="Arial" pitchFamily="34" charset="0"/>
            </a:endParaRPr>
          </a:p>
        </p:txBody>
      </p:sp>
    </p:spTree>
  </p:cSld>
  <p:clrMapOvr>
    <a:masterClrMapping/>
  </p:clrMapOvr>
  <p:transition spd="slow">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98FF03-EA6E-4026-A7C6-E9CDB2950E2F}" type="datetimeFigureOut">
              <a:rPr lang="en-US" smtClean="0"/>
              <a:t>11/20/2017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A37CEE-6ED6-45CB-BD55-B602F54C57B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OPM Workshop</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0999"/>
            <a:ext cx="8229600" cy="1036639"/>
          </a:xfrm>
        </p:spPr>
        <p:txBody>
          <a:bodyPr/>
          <a:lstStyle/>
          <a:p>
            <a:r>
              <a:rPr lang="id-ID" b="1" dirty="0" smtClean="0"/>
              <a:t>AGENDA</a:t>
            </a:r>
            <a:endParaRPr lang="id-ID" b="1" dirty="0"/>
          </a:p>
        </p:txBody>
      </p:sp>
      <p:graphicFrame>
        <p:nvGraphicFramePr>
          <p:cNvPr id="10" name="Table 9"/>
          <p:cNvGraphicFramePr>
            <a:graphicFrameLocks noGrp="1"/>
          </p:cNvGraphicFramePr>
          <p:nvPr>
            <p:extLst>
              <p:ext uri="{D42A27DB-BD31-4B8C-83A1-F6EECF244321}">
                <p14:modId xmlns:p14="http://schemas.microsoft.com/office/powerpoint/2010/main" xmlns="" val="608932727"/>
              </p:ext>
            </p:extLst>
          </p:nvPr>
        </p:nvGraphicFramePr>
        <p:xfrm>
          <a:off x="2895600" y="2514600"/>
          <a:ext cx="4495800" cy="1600200"/>
        </p:xfrm>
        <a:graphic>
          <a:graphicData uri="http://schemas.openxmlformats.org/drawingml/2006/table">
            <a:tbl>
              <a:tblPr bandRow="1">
                <a:tableStyleId>{C083E6E3-FA7D-4D7B-A595-EF9225AFEA82}</a:tableStyleId>
              </a:tblPr>
              <a:tblGrid>
                <a:gridCol w="4495800"/>
              </a:tblGrid>
              <a:tr h="528320">
                <a:tc>
                  <a:txBody>
                    <a:bodyPr/>
                    <a:lstStyle/>
                    <a:p>
                      <a:pPr marL="0" indent="0">
                        <a:buFont typeface="+mj-lt"/>
                        <a:buNone/>
                      </a:pPr>
                      <a:r>
                        <a:rPr lang="id-ID" sz="2700" dirty="0" smtClean="0"/>
                        <a:t>1. Product </a:t>
                      </a:r>
                      <a:r>
                        <a:rPr lang="id-ID" sz="2700" dirty="0" smtClean="0"/>
                        <a:t>Developmen</a:t>
                      </a:r>
                      <a:r>
                        <a:rPr lang="en-US" sz="2700" dirty="0" smtClean="0"/>
                        <a:t>t</a:t>
                      </a:r>
                      <a:endParaRPr lang="id-ID" sz="2700" dirty="0"/>
                    </a:p>
                  </a:txBody>
                  <a:tcPr marT="60960" marB="60960"/>
                </a:tc>
              </a:tr>
              <a:tr h="528320">
                <a:tc>
                  <a:txBody>
                    <a:bodyPr/>
                    <a:lstStyle/>
                    <a:p>
                      <a:pPr marL="0" indent="0">
                        <a:buFont typeface="+mj-lt"/>
                        <a:buNone/>
                      </a:pPr>
                      <a:r>
                        <a:rPr lang="id-ID" sz="2700" dirty="0" smtClean="0"/>
                        <a:t>2. </a:t>
                      </a:r>
                      <a:r>
                        <a:rPr lang="en-US" sz="2700" dirty="0" smtClean="0"/>
                        <a:t>Process Execution</a:t>
                      </a:r>
                      <a:endParaRPr lang="id-ID" sz="2700" dirty="0"/>
                    </a:p>
                  </a:txBody>
                  <a:tcPr marT="60960" marB="60960"/>
                </a:tc>
              </a:tr>
              <a:tr h="528320">
                <a:tc>
                  <a:txBody>
                    <a:bodyPr/>
                    <a:lstStyle/>
                    <a:p>
                      <a:pPr marL="0" indent="0">
                        <a:buFont typeface="+mj-lt"/>
                        <a:buNone/>
                      </a:pPr>
                      <a:r>
                        <a:rPr lang="id-ID" sz="2700" dirty="0" smtClean="0"/>
                        <a:t>3. </a:t>
                      </a:r>
                      <a:r>
                        <a:rPr lang="en-US" sz="2700" dirty="0" smtClean="0"/>
                        <a:t>Costing</a:t>
                      </a:r>
                      <a:endParaRPr lang="id-ID" sz="2700" dirty="0"/>
                    </a:p>
                  </a:txBody>
                  <a:tcPr marT="60960" marB="60960"/>
                </a:tc>
              </a:tr>
            </a:tbl>
          </a:graphicData>
        </a:graphic>
      </p:graphicFrame>
    </p:spTree>
    <p:extLst>
      <p:ext uri="{BB962C8B-B14F-4D97-AF65-F5344CB8AC3E}">
        <p14:creationId xmlns:p14="http://schemas.microsoft.com/office/powerpoint/2010/main" xmlns="" val="794191769"/>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0999"/>
            <a:ext cx="8229600" cy="1036639"/>
          </a:xfrm>
        </p:spPr>
        <p:txBody>
          <a:bodyPr/>
          <a:lstStyle/>
          <a:p>
            <a:r>
              <a:rPr lang="id-ID" b="1" dirty="0" smtClean="0"/>
              <a:t>AGENDA</a:t>
            </a:r>
            <a:endParaRPr lang="id-ID" b="1" dirty="0"/>
          </a:p>
        </p:txBody>
      </p:sp>
      <p:graphicFrame>
        <p:nvGraphicFramePr>
          <p:cNvPr id="10" name="Table 9"/>
          <p:cNvGraphicFramePr>
            <a:graphicFrameLocks noGrp="1"/>
          </p:cNvGraphicFramePr>
          <p:nvPr>
            <p:extLst>
              <p:ext uri="{D42A27DB-BD31-4B8C-83A1-F6EECF244321}">
                <p14:modId xmlns:p14="http://schemas.microsoft.com/office/powerpoint/2010/main" xmlns="" val="608932727"/>
              </p:ext>
            </p:extLst>
          </p:nvPr>
        </p:nvGraphicFramePr>
        <p:xfrm>
          <a:off x="2895600" y="2514600"/>
          <a:ext cx="4495800" cy="1600200"/>
        </p:xfrm>
        <a:graphic>
          <a:graphicData uri="http://schemas.openxmlformats.org/drawingml/2006/table">
            <a:tbl>
              <a:tblPr bandRow="1">
                <a:tableStyleId>{C083E6E3-FA7D-4D7B-A595-EF9225AFEA82}</a:tableStyleId>
              </a:tblPr>
              <a:tblGrid>
                <a:gridCol w="4495800"/>
              </a:tblGrid>
              <a:tr h="528320">
                <a:tc>
                  <a:txBody>
                    <a:bodyPr/>
                    <a:lstStyle/>
                    <a:p>
                      <a:pPr marL="0" indent="0">
                        <a:buFont typeface="+mj-lt"/>
                        <a:buNone/>
                      </a:pPr>
                      <a:r>
                        <a:rPr lang="id-ID" sz="2700" dirty="0" smtClean="0"/>
                        <a:t>1. Product </a:t>
                      </a:r>
                      <a:r>
                        <a:rPr lang="id-ID" sz="2700" dirty="0" smtClean="0"/>
                        <a:t>Developmen</a:t>
                      </a:r>
                      <a:r>
                        <a:rPr lang="en-US" sz="2700" dirty="0" smtClean="0"/>
                        <a:t>t</a:t>
                      </a:r>
                      <a:endParaRPr lang="id-ID" sz="2700" dirty="0"/>
                    </a:p>
                  </a:txBody>
                  <a:tcPr marT="60960" marB="60960"/>
                </a:tc>
              </a:tr>
              <a:tr h="528320">
                <a:tc>
                  <a:txBody>
                    <a:bodyPr/>
                    <a:lstStyle/>
                    <a:p>
                      <a:pPr marL="0" indent="0">
                        <a:buFont typeface="+mj-lt"/>
                        <a:buNone/>
                      </a:pPr>
                      <a:r>
                        <a:rPr lang="id-ID" sz="2700" dirty="0" smtClean="0">
                          <a:solidFill>
                            <a:schemeClr val="bg1"/>
                          </a:solidFill>
                        </a:rPr>
                        <a:t>2. </a:t>
                      </a:r>
                      <a:r>
                        <a:rPr lang="en-US" sz="2700" dirty="0" smtClean="0">
                          <a:solidFill>
                            <a:schemeClr val="bg1"/>
                          </a:solidFill>
                        </a:rPr>
                        <a:t>Process Execution</a:t>
                      </a:r>
                      <a:endParaRPr lang="id-ID" sz="2700" dirty="0">
                        <a:solidFill>
                          <a:schemeClr val="bg1"/>
                        </a:solidFill>
                      </a:endParaRPr>
                    </a:p>
                  </a:txBody>
                  <a:tcPr marT="60960" marB="60960"/>
                </a:tc>
              </a:tr>
              <a:tr h="528320">
                <a:tc>
                  <a:txBody>
                    <a:bodyPr/>
                    <a:lstStyle/>
                    <a:p>
                      <a:pPr marL="0" indent="0">
                        <a:buFont typeface="+mj-lt"/>
                        <a:buNone/>
                      </a:pPr>
                      <a:r>
                        <a:rPr lang="id-ID" sz="2700" dirty="0" smtClean="0">
                          <a:solidFill>
                            <a:schemeClr val="bg1">
                              <a:lumMod val="95000"/>
                            </a:schemeClr>
                          </a:solidFill>
                        </a:rPr>
                        <a:t>3. </a:t>
                      </a:r>
                      <a:r>
                        <a:rPr lang="en-US" sz="2700" dirty="0" smtClean="0">
                          <a:solidFill>
                            <a:schemeClr val="bg1">
                              <a:lumMod val="95000"/>
                            </a:schemeClr>
                          </a:solidFill>
                        </a:rPr>
                        <a:t>Costing</a:t>
                      </a:r>
                      <a:endParaRPr lang="id-ID" sz="2700" dirty="0">
                        <a:solidFill>
                          <a:schemeClr val="bg1">
                            <a:lumMod val="95000"/>
                          </a:schemeClr>
                        </a:solidFill>
                      </a:endParaRPr>
                    </a:p>
                  </a:txBody>
                  <a:tcPr marT="60960" marB="60960"/>
                </a:tc>
              </a:tr>
            </a:tbl>
          </a:graphicData>
        </a:graphic>
      </p:graphicFrame>
    </p:spTree>
    <p:extLst>
      <p:ext uri="{BB962C8B-B14F-4D97-AF65-F5344CB8AC3E}">
        <p14:creationId xmlns:p14="http://schemas.microsoft.com/office/powerpoint/2010/main" xmlns="" val="794191769"/>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id-ID" dirty="0" smtClean="0"/>
              <a:t>Process Manufacturing Flow</a:t>
            </a:r>
            <a:endParaRPr lang="en-US" dirty="0" smtClean="0"/>
          </a:p>
        </p:txBody>
      </p:sp>
      <p:sp>
        <p:nvSpPr>
          <p:cNvPr id="3" name="Rectangle 4"/>
          <p:cNvSpPr>
            <a:spLocks noChangeArrowheads="1"/>
          </p:cNvSpPr>
          <p:nvPr/>
        </p:nvSpPr>
        <p:spPr bwMode="invGray">
          <a:xfrm>
            <a:off x="2262187" y="2027239"/>
            <a:ext cx="90488" cy="3081337"/>
          </a:xfrm>
          <a:prstGeom prst="rect">
            <a:avLst/>
          </a:prstGeom>
          <a:gradFill rotWithShape="0">
            <a:gsLst>
              <a:gs pos="0">
                <a:srgbClr val="B2B2B2">
                  <a:gamma/>
                  <a:shade val="46275"/>
                  <a:invGamma/>
                </a:srgbClr>
              </a:gs>
              <a:gs pos="50000">
                <a:srgbClr val="B2B2B2"/>
              </a:gs>
              <a:gs pos="100000">
                <a:srgbClr val="B2B2B2">
                  <a:gamma/>
                  <a:shade val="46275"/>
                  <a:invGamma/>
                </a:srgbClr>
              </a:gs>
            </a:gsLst>
            <a:lin ang="0" scaled="1"/>
          </a:gradFill>
          <a:ln w="9525">
            <a:noFill/>
            <a:miter lim="800000"/>
            <a:headEnd/>
            <a:tailEnd/>
          </a:ln>
          <a:effectLst/>
        </p:spPr>
        <p:txBody>
          <a:bodyPr wrap="none" lIns="67866" tIns="33338" rIns="67866" bIns="33338" anchor="ctr"/>
          <a:lstStyle/>
          <a:p>
            <a:pPr algn="l">
              <a:spcBef>
                <a:spcPct val="50000"/>
              </a:spcBef>
            </a:pPr>
            <a:endParaRPr lang="de-DE" sz="1350">
              <a:latin typeface="Times New Roman" pitchFamily="18" charset="0"/>
            </a:endParaRPr>
          </a:p>
        </p:txBody>
      </p:sp>
      <p:sp>
        <p:nvSpPr>
          <p:cNvPr id="4" name="Rectangle 2"/>
          <p:cNvSpPr>
            <a:spLocks noChangeArrowheads="1"/>
          </p:cNvSpPr>
          <p:nvPr/>
        </p:nvSpPr>
        <p:spPr bwMode="invGray">
          <a:xfrm rot="5400000">
            <a:off x="3047802" y="4991298"/>
            <a:ext cx="120651" cy="653654"/>
          </a:xfrm>
          <a:prstGeom prst="rect">
            <a:avLst/>
          </a:prstGeom>
          <a:gradFill rotWithShape="0">
            <a:gsLst>
              <a:gs pos="0">
                <a:srgbClr val="B2B2B2">
                  <a:gamma/>
                  <a:shade val="46275"/>
                  <a:invGamma/>
                </a:srgbClr>
              </a:gs>
              <a:gs pos="50000">
                <a:srgbClr val="B2B2B2"/>
              </a:gs>
              <a:gs pos="100000">
                <a:srgbClr val="B2B2B2">
                  <a:gamma/>
                  <a:shade val="46275"/>
                  <a:invGamma/>
                </a:srgbClr>
              </a:gs>
            </a:gsLst>
            <a:lin ang="5400000" scaled="1"/>
          </a:gradFill>
          <a:ln w="9525">
            <a:noFill/>
            <a:miter lim="800000"/>
            <a:headEnd/>
            <a:tailEnd/>
          </a:ln>
          <a:effectLst/>
        </p:spPr>
        <p:txBody>
          <a:bodyPr rot="10800000" vert="eaVert" wrap="none" lIns="67866" tIns="33338" rIns="67866" bIns="33338" anchor="ctr"/>
          <a:lstStyle/>
          <a:p>
            <a:pPr algn="l">
              <a:spcBef>
                <a:spcPct val="50000"/>
              </a:spcBef>
            </a:pPr>
            <a:endParaRPr lang="de-DE" sz="1350">
              <a:latin typeface="Times New Roman" pitchFamily="18" charset="0"/>
            </a:endParaRPr>
          </a:p>
        </p:txBody>
      </p:sp>
      <p:sp>
        <p:nvSpPr>
          <p:cNvPr id="5" name="AutoShape 83"/>
          <p:cNvSpPr>
            <a:spLocks noChangeArrowheads="1"/>
          </p:cNvSpPr>
          <p:nvPr/>
        </p:nvSpPr>
        <p:spPr bwMode="auto">
          <a:xfrm>
            <a:off x="1422798" y="5021263"/>
            <a:ext cx="1787128" cy="635000"/>
          </a:xfrm>
          <a:prstGeom prst="roundRect">
            <a:avLst>
              <a:gd name="adj" fmla="val 16667"/>
            </a:avLst>
          </a:prstGeom>
          <a:solidFill>
            <a:srgbClr val="DDDDDD"/>
          </a:solidFill>
          <a:ln w="12700">
            <a:solidFill>
              <a:srgbClr val="003399"/>
            </a:solidFill>
            <a:round/>
            <a:headEnd/>
            <a:tailEnd/>
          </a:ln>
          <a:effectLst/>
        </p:spPr>
        <p:txBody>
          <a:bodyPr wrap="none" lIns="67866" tIns="33338" rIns="67866" bIns="33338" anchor="ctr"/>
          <a:lstStyle/>
          <a:p>
            <a:pPr algn="l">
              <a:lnSpc>
                <a:spcPct val="85000"/>
              </a:lnSpc>
            </a:pPr>
            <a:r>
              <a:rPr lang="en-US" sz="1050"/>
              <a:t>Procure </a:t>
            </a:r>
          </a:p>
          <a:p>
            <a:pPr algn="l">
              <a:lnSpc>
                <a:spcPct val="85000"/>
              </a:lnSpc>
            </a:pPr>
            <a:r>
              <a:rPr lang="en-US" sz="1050"/>
              <a:t>Materials</a:t>
            </a:r>
          </a:p>
        </p:txBody>
      </p:sp>
      <p:sp>
        <p:nvSpPr>
          <p:cNvPr id="6" name="Rectangle 3"/>
          <p:cNvSpPr>
            <a:spLocks noChangeArrowheads="1"/>
          </p:cNvSpPr>
          <p:nvPr/>
        </p:nvSpPr>
        <p:spPr bwMode="invGray">
          <a:xfrm rot="5400000">
            <a:off x="5290939" y="4991298"/>
            <a:ext cx="120651" cy="653654"/>
          </a:xfrm>
          <a:prstGeom prst="rect">
            <a:avLst/>
          </a:prstGeom>
          <a:gradFill rotWithShape="0">
            <a:gsLst>
              <a:gs pos="0">
                <a:srgbClr val="B2B2B2">
                  <a:gamma/>
                  <a:shade val="46275"/>
                  <a:invGamma/>
                </a:srgbClr>
              </a:gs>
              <a:gs pos="50000">
                <a:srgbClr val="B2B2B2"/>
              </a:gs>
              <a:gs pos="100000">
                <a:srgbClr val="B2B2B2">
                  <a:gamma/>
                  <a:shade val="46275"/>
                  <a:invGamma/>
                </a:srgbClr>
              </a:gs>
            </a:gsLst>
            <a:lin ang="5400000" scaled="1"/>
          </a:gradFill>
          <a:ln w="9525">
            <a:noFill/>
            <a:miter lim="800000"/>
            <a:headEnd/>
            <a:tailEnd/>
          </a:ln>
          <a:effectLst/>
        </p:spPr>
        <p:txBody>
          <a:bodyPr rot="10800000" vert="eaVert" wrap="none" lIns="67866" tIns="33338" rIns="67866" bIns="33338" anchor="ctr"/>
          <a:lstStyle/>
          <a:p>
            <a:pPr algn="l">
              <a:spcBef>
                <a:spcPct val="50000"/>
              </a:spcBef>
            </a:pPr>
            <a:endParaRPr lang="de-DE" sz="1350">
              <a:latin typeface="Times New Roman" pitchFamily="18" charset="0"/>
            </a:endParaRPr>
          </a:p>
        </p:txBody>
      </p:sp>
      <p:sp>
        <p:nvSpPr>
          <p:cNvPr id="7" name="Rectangle 5"/>
          <p:cNvSpPr>
            <a:spLocks noChangeArrowheads="1"/>
          </p:cNvSpPr>
          <p:nvPr/>
        </p:nvSpPr>
        <p:spPr bwMode="invGray">
          <a:xfrm>
            <a:off x="4524375" y="1978025"/>
            <a:ext cx="90488" cy="3081339"/>
          </a:xfrm>
          <a:prstGeom prst="rect">
            <a:avLst/>
          </a:prstGeom>
          <a:gradFill rotWithShape="0">
            <a:gsLst>
              <a:gs pos="0">
                <a:srgbClr val="B2B2B2">
                  <a:gamma/>
                  <a:shade val="46275"/>
                  <a:invGamma/>
                </a:srgbClr>
              </a:gs>
              <a:gs pos="50000">
                <a:srgbClr val="B2B2B2"/>
              </a:gs>
              <a:gs pos="100000">
                <a:srgbClr val="B2B2B2">
                  <a:gamma/>
                  <a:shade val="46275"/>
                  <a:invGamma/>
                </a:srgbClr>
              </a:gs>
            </a:gsLst>
            <a:lin ang="0" scaled="1"/>
          </a:gradFill>
          <a:ln w="9525">
            <a:noFill/>
            <a:miter lim="800000"/>
            <a:headEnd/>
            <a:tailEnd/>
          </a:ln>
          <a:effectLst/>
        </p:spPr>
        <p:txBody>
          <a:bodyPr wrap="none" lIns="67866" tIns="33338" rIns="67866" bIns="33338" anchor="ctr"/>
          <a:lstStyle/>
          <a:p>
            <a:pPr algn="l">
              <a:spcBef>
                <a:spcPct val="50000"/>
              </a:spcBef>
            </a:pPr>
            <a:endParaRPr lang="de-DE" sz="1350">
              <a:latin typeface="Times New Roman" pitchFamily="18" charset="0"/>
            </a:endParaRPr>
          </a:p>
        </p:txBody>
      </p:sp>
      <p:sp>
        <p:nvSpPr>
          <p:cNvPr id="8" name="Rectangle 6"/>
          <p:cNvSpPr>
            <a:spLocks noChangeArrowheads="1"/>
          </p:cNvSpPr>
          <p:nvPr/>
        </p:nvSpPr>
        <p:spPr bwMode="invGray">
          <a:xfrm>
            <a:off x="6768703" y="1978025"/>
            <a:ext cx="90488" cy="3081339"/>
          </a:xfrm>
          <a:prstGeom prst="rect">
            <a:avLst/>
          </a:prstGeom>
          <a:gradFill rotWithShape="0">
            <a:gsLst>
              <a:gs pos="0">
                <a:srgbClr val="B2B2B2">
                  <a:gamma/>
                  <a:shade val="46275"/>
                  <a:invGamma/>
                </a:srgbClr>
              </a:gs>
              <a:gs pos="50000">
                <a:srgbClr val="B2B2B2"/>
              </a:gs>
              <a:gs pos="100000">
                <a:srgbClr val="B2B2B2">
                  <a:gamma/>
                  <a:shade val="46275"/>
                  <a:invGamma/>
                </a:srgbClr>
              </a:gs>
            </a:gsLst>
            <a:lin ang="0" scaled="1"/>
          </a:gradFill>
          <a:ln w="9525">
            <a:noFill/>
            <a:miter lim="800000"/>
            <a:headEnd/>
            <a:tailEnd/>
          </a:ln>
          <a:effectLst/>
        </p:spPr>
        <p:txBody>
          <a:bodyPr wrap="none" lIns="67866" tIns="33338" rIns="67866" bIns="33338" anchor="ctr"/>
          <a:lstStyle/>
          <a:p>
            <a:pPr algn="l">
              <a:spcBef>
                <a:spcPct val="50000"/>
              </a:spcBef>
            </a:pPr>
            <a:endParaRPr lang="de-DE" sz="1350">
              <a:latin typeface="Times New Roman" pitchFamily="18" charset="0"/>
            </a:endParaRPr>
          </a:p>
        </p:txBody>
      </p:sp>
      <p:sp>
        <p:nvSpPr>
          <p:cNvPr id="9" name="Rectangle 8"/>
          <p:cNvSpPr>
            <a:spLocks noChangeArrowheads="1"/>
          </p:cNvSpPr>
          <p:nvPr/>
        </p:nvSpPr>
        <p:spPr bwMode="auto">
          <a:xfrm>
            <a:off x="2493170" y="1535114"/>
            <a:ext cx="934641" cy="565151"/>
          </a:xfrm>
          <a:prstGeom prst="rect">
            <a:avLst/>
          </a:prstGeom>
          <a:noFill/>
          <a:ln w="9525">
            <a:noFill/>
            <a:miter lim="800000"/>
            <a:headEnd/>
            <a:tailEnd/>
          </a:ln>
          <a:effectLst/>
        </p:spPr>
        <p:txBody>
          <a:bodyPr wrap="none" anchor="ctr"/>
          <a:lstStyle/>
          <a:p>
            <a:endParaRPr lang="en-US" sz="1350"/>
          </a:p>
        </p:txBody>
      </p:sp>
      <p:pic>
        <p:nvPicPr>
          <p:cNvPr id="10" name="Picture 11" descr="drum storage"/>
          <p:cNvPicPr>
            <a:picLocks noChangeAspect="1" noChangeArrowheads="1"/>
          </p:cNvPicPr>
          <p:nvPr/>
        </p:nvPicPr>
        <p:blipFill>
          <a:blip r:embed="rId3" cstate="print"/>
          <a:srcRect/>
          <a:stretch>
            <a:fillRect/>
          </a:stretch>
        </p:blipFill>
        <p:spPr bwMode="auto">
          <a:xfrm>
            <a:off x="2640808" y="5106989"/>
            <a:ext cx="402431" cy="454025"/>
          </a:xfrm>
          <a:prstGeom prst="rect">
            <a:avLst/>
          </a:prstGeom>
          <a:solidFill>
            <a:srgbClr val="DDDDDD"/>
          </a:solidFill>
          <a:ln w="9525">
            <a:noFill/>
            <a:miter lim="800000"/>
            <a:headEnd/>
            <a:tailEnd/>
          </a:ln>
          <a:effectLst/>
        </p:spPr>
      </p:pic>
      <p:sp>
        <p:nvSpPr>
          <p:cNvPr id="11" name="AutoShape 13"/>
          <p:cNvSpPr>
            <a:spLocks noChangeArrowheads="1"/>
          </p:cNvSpPr>
          <p:nvPr/>
        </p:nvSpPr>
        <p:spPr bwMode="auto">
          <a:xfrm>
            <a:off x="3681413" y="2368551"/>
            <a:ext cx="1776413" cy="635000"/>
          </a:xfrm>
          <a:prstGeom prst="roundRect">
            <a:avLst>
              <a:gd name="adj" fmla="val 16667"/>
            </a:avLst>
          </a:prstGeom>
          <a:solidFill>
            <a:srgbClr val="DDDDDD"/>
          </a:solidFill>
          <a:ln w="28575">
            <a:solidFill>
              <a:srgbClr val="CC3300"/>
            </a:solidFill>
            <a:round/>
            <a:headEnd/>
            <a:tailEnd/>
          </a:ln>
          <a:effectLst/>
        </p:spPr>
        <p:txBody>
          <a:bodyPr wrap="none" lIns="67866" tIns="33338" rIns="67866" bIns="33338" anchor="ctr"/>
          <a:lstStyle/>
          <a:p>
            <a:pPr algn="l">
              <a:lnSpc>
                <a:spcPct val="85000"/>
              </a:lnSpc>
            </a:pPr>
            <a:r>
              <a:rPr lang="en-US" sz="1050" dirty="0"/>
              <a:t>Comprehensive </a:t>
            </a:r>
            <a:br>
              <a:rPr lang="en-US" sz="1050" dirty="0"/>
            </a:br>
            <a:r>
              <a:rPr lang="en-US" sz="1050" dirty="0"/>
              <a:t>Process Mfg </a:t>
            </a:r>
            <a:br>
              <a:rPr lang="en-US" sz="1050" dirty="0"/>
            </a:br>
            <a:r>
              <a:rPr lang="en-US" sz="1050" dirty="0"/>
              <a:t>Solution</a:t>
            </a:r>
          </a:p>
        </p:txBody>
      </p:sp>
      <p:pic>
        <p:nvPicPr>
          <p:cNvPr id="12" name="Picture 14" descr="Manufacturing: Mixer"/>
          <p:cNvPicPr>
            <a:picLocks noChangeAspect="1" noChangeArrowheads="1"/>
          </p:cNvPicPr>
          <p:nvPr/>
        </p:nvPicPr>
        <p:blipFill>
          <a:blip r:embed="rId4" cstate="print"/>
          <a:srcRect/>
          <a:stretch>
            <a:fillRect/>
          </a:stretch>
        </p:blipFill>
        <p:spPr bwMode="auto">
          <a:xfrm>
            <a:off x="4960145" y="2436814"/>
            <a:ext cx="257175" cy="511175"/>
          </a:xfrm>
          <a:prstGeom prst="rect">
            <a:avLst/>
          </a:prstGeom>
          <a:solidFill>
            <a:srgbClr val="DDDDDD"/>
          </a:solidFill>
          <a:ln w="9525">
            <a:noFill/>
            <a:miter lim="800000"/>
            <a:headEnd/>
            <a:tailEnd/>
          </a:ln>
          <a:effectLst/>
        </p:spPr>
      </p:pic>
      <p:grpSp>
        <p:nvGrpSpPr>
          <p:cNvPr id="2" name="Group 15"/>
          <p:cNvGrpSpPr>
            <a:grpSpLocks/>
          </p:cNvGrpSpPr>
          <p:nvPr/>
        </p:nvGrpSpPr>
        <p:grpSpPr bwMode="auto">
          <a:xfrm>
            <a:off x="1426370" y="4165600"/>
            <a:ext cx="1787129" cy="635000"/>
            <a:chOff x="2118" y="968"/>
            <a:chExt cx="1501" cy="400"/>
          </a:xfrm>
        </p:grpSpPr>
        <p:sp>
          <p:nvSpPr>
            <p:cNvPr id="14" name="AutoShape 16"/>
            <p:cNvSpPr>
              <a:spLocks noChangeArrowheads="1"/>
            </p:cNvSpPr>
            <p:nvPr/>
          </p:nvSpPr>
          <p:spPr bwMode="auto">
            <a:xfrm>
              <a:off x="2118" y="968"/>
              <a:ext cx="1501" cy="400"/>
            </a:xfrm>
            <a:prstGeom prst="roundRect">
              <a:avLst>
                <a:gd name="adj" fmla="val 16667"/>
              </a:avLst>
            </a:prstGeom>
            <a:solidFill>
              <a:srgbClr val="DDDDDD"/>
            </a:solidFill>
            <a:ln w="12700">
              <a:solidFill>
                <a:srgbClr val="003399"/>
              </a:solidFill>
              <a:round/>
              <a:headEnd/>
              <a:tailEnd/>
            </a:ln>
            <a:effectLst/>
          </p:spPr>
          <p:txBody>
            <a:bodyPr wrap="none" lIns="67866" tIns="33338" rIns="67866" bIns="33338" anchor="ctr"/>
            <a:lstStyle/>
            <a:p>
              <a:pPr algn="l">
                <a:lnSpc>
                  <a:spcPct val="85000"/>
                </a:lnSpc>
              </a:pPr>
              <a:r>
                <a:rPr lang="en-US" sz="1050"/>
                <a:t>Supply Chain </a:t>
              </a:r>
              <a:br>
                <a:rPr lang="en-US" sz="1050"/>
              </a:br>
              <a:r>
                <a:rPr lang="en-US" sz="1050"/>
                <a:t>Planning</a:t>
              </a:r>
            </a:p>
          </p:txBody>
        </p:sp>
        <p:pic>
          <p:nvPicPr>
            <p:cNvPr id="15" name="Picture 17" descr="gantt"/>
            <p:cNvPicPr preferRelativeResize="0">
              <a:picLocks noChangeAspect="1" noChangeArrowheads="1"/>
            </p:cNvPicPr>
            <p:nvPr/>
          </p:nvPicPr>
          <p:blipFill>
            <a:blip r:embed="rId5" cstate="print"/>
            <a:srcRect/>
            <a:stretch>
              <a:fillRect/>
            </a:stretch>
          </p:blipFill>
          <p:spPr bwMode="auto">
            <a:xfrm>
              <a:off x="3201" y="1018"/>
              <a:ext cx="204" cy="302"/>
            </a:xfrm>
            <a:prstGeom prst="rect">
              <a:avLst/>
            </a:prstGeom>
            <a:solidFill>
              <a:srgbClr val="DDDDDD"/>
            </a:solidFill>
            <a:ln w="9525">
              <a:noFill/>
              <a:miter lim="800000"/>
              <a:headEnd/>
              <a:tailEnd/>
            </a:ln>
            <a:effectLst/>
          </p:spPr>
        </p:pic>
      </p:grpSp>
      <p:sp>
        <p:nvSpPr>
          <p:cNvPr id="16" name="AutoShape 19"/>
          <p:cNvSpPr>
            <a:spLocks noChangeArrowheads="1"/>
          </p:cNvSpPr>
          <p:nvPr/>
        </p:nvSpPr>
        <p:spPr bwMode="auto">
          <a:xfrm>
            <a:off x="5923361" y="5000625"/>
            <a:ext cx="1781175" cy="635000"/>
          </a:xfrm>
          <a:prstGeom prst="roundRect">
            <a:avLst>
              <a:gd name="adj" fmla="val 16667"/>
            </a:avLst>
          </a:prstGeom>
          <a:solidFill>
            <a:srgbClr val="DDDDDD"/>
          </a:solidFill>
          <a:ln w="12700" cap="rnd">
            <a:solidFill>
              <a:srgbClr val="003399"/>
            </a:solidFill>
            <a:prstDash val="sysDot"/>
            <a:round/>
            <a:headEnd/>
            <a:tailEnd/>
          </a:ln>
          <a:effectLst/>
        </p:spPr>
        <p:txBody>
          <a:bodyPr wrap="none" lIns="67866" tIns="33338" rIns="67866" bIns="33338" anchor="ctr"/>
          <a:lstStyle/>
          <a:p>
            <a:pPr algn="l">
              <a:lnSpc>
                <a:spcPct val="85000"/>
              </a:lnSpc>
            </a:pPr>
            <a:r>
              <a:rPr lang="en-US" sz="1050"/>
              <a:t>Update</a:t>
            </a:r>
          </a:p>
          <a:p>
            <a:pPr algn="l">
              <a:lnSpc>
                <a:spcPct val="85000"/>
              </a:lnSpc>
            </a:pPr>
            <a:r>
              <a:rPr lang="en-US" sz="1050"/>
              <a:t>Billing &amp; Finance </a:t>
            </a:r>
          </a:p>
        </p:txBody>
      </p:sp>
      <p:pic>
        <p:nvPicPr>
          <p:cNvPr id="17" name="Picture 20"/>
          <p:cNvPicPr preferRelativeResize="0">
            <a:picLocks noChangeAspect="1" noChangeArrowheads="1"/>
          </p:cNvPicPr>
          <p:nvPr/>
        </p:nvPicPr>
        <p:blipFill>
          <a:blip r:embed="rId6" cstate="print"/>
          <a:srcRect/>
          <a:stretch>
            <a:fillRect/>
          </a:stretch>
        </p:blipFill>
        <p:spPr bwMode="auto">
          <a:xfrm>
            <a:off x="7258051" y="5056190"/>
            <a:ext cx="240506" cy="511175"/>
          </a:xfrm>
          <a:prstGeom prst="rect">
            <a:avLst/>
          </a:prstGeom>
          <a:solidFill>
            <a:srgbClr val="FFFFFF"/>
          </a:solidFill>
          <a:ln w="9525">
            <a:noFill/>
            <a:miter lim="800000"/>
            <a:headEnd/>
            <a:tailEnd/>
          </a:ln>
          <a:effectLst/>
        </p:spPr>
      </p:pic>
      <p:grpSp>
        <p:nvGrpSpPr>
          <p:cNvPr id="13" name="Group 63"/>
          <p:cNvGrpSpPr/>
          <p:nvPr/>
        </p:nvGrpSpPr>
        <p:grpSpPr>
          <a:xfrm>
            <a:off x="5923361" y="2641600"/>
            <a:ext cx="1781175" cy="635000"/>
            <a:chOff x="6373813" y="2370138"/>
            <a:chExt cx="2374900" cy="635000"/>
          </a:xfrm>
        </p:grpSpPr>
        <p:sp>
          <p:nvSpPr>
            <p:cNvPr id="18" name="AutoShape 22"/>
            <p:cNvSpPr>
              <a:spLocks noChangeArrowheads="1"/>
            </p:cNvSpPr>
            <p:nvPr/>
          </p:nvSpPr>
          <p:spPr bwMode="auto">
            <a:xfrm>
              <a:off x="6373813" y="2370138"/>
              <a:ext cx="2374900" cy="635000"/>
            </a:xfrm>
            <a:prstGeom prst="roundRect">
              <a:avLst>
                <a:gd name="adj" fmla="val 16667"/>
              </a:avLst>
            </a:prstGeom>
            <a:solidFill>
              <a:srgbClr val="DDDDDD"/>
            </a:solidFill>
            <a:ln w="28575">
              <a:solidFill>
                <a:srgbClr val="99CCFF"/>
              </a:solidFill>
              <a:round/>
              <a:headEnd/>
              <a:tailEnd/>
            </a:ln>
            <a:effectLst/>
          </p:spPr>
          <p:txBody>
            <a:bodyPr wrap="none" lIns="67866" tIns="33338" rIns="67866" bIns="33338" anchor="ctr"/>
            <a:lstStyle/>
            <a:p>
              <a:pPr algn="l">
                <a:lnSpc>
                  <a:spcPct val="85000"/>
                </a:lnSpc>
              </a:pPr>
              <a:r>
                <a:rPr lang="en-US" sz="1050"/>
                <a:t>Cost </a:t>
              </a:r>
              <a:br>
                <a:rPr lang="en-US" sz="1050"/>
              </a:br>
              <a:r>
                <a:rPr lang="en-US" sz="1050"/>
                <a:t>Management</a:t>
              </a:r>
            </a:p>
          </p:txBody>
        </p:sp>
        <p:pic>
          <p:nvPicPr>
            <p:cNvPr id="19" name="Picture 23"/>
            <p:cNvPicPr preferRelativeResize="0">
              <a:picLocks noChangeAspect="1" noChangeArrowheads="1"/>
            </p:cNvPicPr>
            <p:nvPr/>
          </p:nvPicPr>
          <p:blipFill>
            <a:blip r:embed="rId7" cstate="print"/>
            <a:srcRect/>
            <a:stretch>
              <a:fillRect/>
            </a:stretch>
          </p:blipFill>
          <p:spPr bwMode="auto">
            <a:xfrm>
              <a:off x="8066088" y="2420938"/>
              <a:ext cx="284162" cy="393700"/>
            </a:xfrm>
            <a:prstGeom prst="rect">
              <a:avLst/>
            </a:prstGeom>
            <a:solidFill>
              <a:srgbClr val="DDDDDD"/>
            </a:solidFill>
            <a:ln w="9525">
              <a:noFill/>
              <a:miter lim="800000"/>
              <a:headEnd/>
              <a:tailEnd/>
            </a:ln>
            <a:effectLst/>
          </p:spPr>
        </p:pic>
        <p:pic>
          <p:nvPicPr>
            <p:cNvPr id="20" name="Picture 24" descr="Documents: Bar Chart"/>
            <p:cNvPicPr preferRelativeResize="0">
              <a:picLocks noChangeAspect="1" noChangeArrowheads="1"/>
            </p:cNvPicPr>
            <p:nvPr/>
          </p:nvPicPr>
          <p:blipFill>
            <a:blip r:embed="rId8" cstate="print"/>
            <a:srcRect/>
            <a:stretch>
              <a:fillRect/>
            </a:stretch>
          </p:blipFill>
          <p:spPr bwMode="auto">
            <a:xfrm>
              <a:off x="8281988" y="2562225"/>
              <a:ext cx="277812" cy="387350"/>
            </a:xfrm>
            <a:prstGeom prst="rect">
              <a:avLst/>
            </a:prstGeom>
            <a:solidFill>
              <a:srgbClr val="DDDDDD"/>
            </a:solidFill>
            <a:ln w="9525">
              <a:noFill/>
              <a:miter lim="800000"/>
              <a:headEnd/>
              <a:tailEnd/>
            </a:ln>
            <a:effectLst/>
          </p:spPr>
        </p:pic>
      </p:grpSp>
      <p:sp>
        <p:nvSpPr>
          <p:cNvPr id="21" name="AutoShape 26"/>
          <p:cNvSpPr>
            <a:spLocks noChangeArrowheads="1"/>
          </p:cNvSpPr>
          <p:nvPr/>
        </p:nvSpPr>
        <p:spPr bwMode="auto">
          <a:xfrm>
            <a:off x="3686175" y="4108451"/>
            <a:ext cx="1771650" cy="635000"/>
          </a:xfrm>
          <a:prstGeom prst="roundRect">
            <a:avLst>
              <a:gd name="adj" fmla="val 16667"/>
            </a:avLst>
          </a:prstGeom>
          <a:solidFill>
            <a:srgbClr val="DDDDDD"/>
          </a:solidFill>
          <a:ln w="19050">
            <a:solidFill>
              <a:srgbClr val="CC3300"/>
            </a:solidFill>
            <a:round/>
            <a:headEnd/>
            <a:tailEnd/>
          </a:ln>
          <a:effectLst/>
        </p:spPr>
        <p:txBody>
          <a:bodyPr wrap="none" lIns="67866" tIns="33338" rIns="67866" bIns="33338" anchor="ctr"/>
          <a:lstStyle/>
          <a:p>
            <a:pPr algn="l">
              <a:lnSpc>
                <a:spcPct val="85000"/>
              </a:lnSpc>
            </a:pPr>
            <a:r>
              <a:rPr lang="en-US" sz="1050"/>
              <a:t>Electronic Batch </a:t>
            </a:r>
            <a:br>
              <a:rPr lang="en-US" sz="1050"/>
            </a:br>
            <a:r>
              <a:rPr lang="en-US" sz="1050"/>
              <a:t>Record/E-Signature</a:t>
            </a:r>
          </a:p>
        </p:txBody>
      </p:sp>
      <p:pic>
        <p:nvPicPr>
          <p:cNvPr id="22" name="Picture 27"/>
          <p:cNvPicPr>
            <a:picLocks noChangeAspect="1" noChangeArrowheads="1"/>
          </p:cNvPicPr>
          <p:nvPr/>
        </p:nvPicPr>
        <p:blipFill>
          <a:blip r:embed="rId9" cstate="print"/>
          <a:srcRect/>
          <a:stretch>
            <a:fillRect/>
          </a:stretch>
        </p:blipFill>
        <p:spPr bwMode="auto">
          <a:xfrm>
            <a:off x="5083969" y="4140200"/>
            <a:ext cx="265510" cy="547688"/>
          </a:xfrm>
          <a:prstGeom prst="rect">
            <a:avLst/>
          </a:prstGeom>
          <a:solidFill>
            <a:srgbClr val="DDDDDD"/>
          </a:solidFill>
          <a:ln w="9525">
            <a:noFill/>
            <a:miter lim="800000"/>
            <a:headEnd/>
            <a:tailEnd/>
          </a:ln>
          <a:effectLst/>
        </p:spPr>
      </p:pic>
      <p:grpSp>
        <p:nvGrpSpPr>
          <p:cNvPr id="23" name="Group 64"/>
          <p:cNvGrpSpPr/>
          <p:nvPr/>
        </p:nvGrpSpPr>
        <p:grpSpPr>
          <a:xfrm>
            <a:off x="1428750" y="2336800"/>
            <a:ext cx="1752600" cy="635000"/>
            <a:chOff x="401638" y="2370138"/>
            <a:chExt cx="2336800" cy="635000"/>
          </a:xfrm>
        </p:grpSpPr>
        <p:sp>
          <p:nvSpPr>
            <p:cNvPr id="26" name="AutoShape 32"/>
            <p:cNvSpPr>
              <a:spLocks noChangeArrowheads="1"/>
            </p:cNvSpPr>
            <p:nvPr/>
          </p:nvSpPr>
          <p:spPr bwMode="auto">
            <a:xfrm>
              <a:off x="401638" y="2370138"/>
              <a:ext cx="2336800" cy="635000"/>
            </a:xfrm>
            <a:prstGeom prst="roundRect">
              <a:avLst>
                <a:gd name="adj" fmla="val 16667"/>
              </a:avLst>
            </a:prstGeom>
            <a:solidFill>
              <a:srgbClr val="DDDDDD"/>
            </a:solidFill>
            <a:ln w="12700" cap="rnd">
              <a:solidFill>
                <a:srgbClr val="003399"/>
              </a:solidFill>
              <a:prstDash val="sysDot"/>
              <a:round/>
              <a:headEnd/>
              <a:tailEnd/>
            </a:ln>
            <a:effectLst/>
          </p:spPr>
          <p:txBody>
            <a:bodyPr wrap="none" lIns="67866" tIns="33338" rIns="67866" bIns="33338" anchor="ctr"/>
            <a:lstStyle/>
            <a:p>
              <a:pPr algn="l">
                <a:lnSpc>
                  <a:spcPct val="85000"/>
                </a:lnSpc>
              </a:pPr>
              <a:r>
                <a:rPr lang="en-US" sz="1050"/>
                <a:t>Create </a:t>
              </a:r>
            </a:p>
            <a:p>
              <a:pPr algn="l">
                <a:lnSpc>
                  <a:spcPct val="85000"/>
                </a:lnSpc>
              </a:pPr>
              <a:r>
                <a:rPr lang="en-US" sz="1050"/>
                <a:t>Sales Order</a:t>
              </a:r>
            </a:p>
          </p:txBody>
        </p:sp>
        <p:pic>
          <p:nvPicPr>
            <p:cNvPr id="27" name="Picture 33"/>
            <p:cNvPicPr>
              <a:picLocks noChangeAspect="1" noChangeArrowheads="1"/>
            </p:cNvPicPr>
            <p:nvPr/>
          </p:nvPicPr>
          <p:blipFill>
            <a:blip r:embed="rId10" cstate="print"/>
            <a:srcRect/>
            <a:stretch>
              <a:fillRect/>
            </a:stretch>
          </p:blipFill>
          <p:spPr bwMode="auto">
            <a:xfrm>
              <a:off x="2041525" y="2406650"/>
              <a:ext cx="547688" cy="566738"/>
            </a:xfrm>
            <a:prstGeom prst="rect">
              <a:avLst/>
            </a:prstGeom>
            <a:solidFill>
              <a:srgbClr val="FFFFFF"/>
            </a:solidFill>
            <a:ln w="9525">
              <a:noFill/>
              <a:miter lim="800000"/>
              <a:headEnd/>
              <a:tailEnd/>
            </a:ln>
            <a:effectLst/>
          </p:spPr>
        </p:pic>
      </p:grpSp>
      <p:grpSp>
        <p:nvGrpSpPr>
          <p:cNvPr id="24" name="Group 65"/>
          <p:cNvGrpSpPr/>
          <p:nvPr/>
        </p:nvGrpSpPr>
        <p:grpSpPr>
          <a:xfrm>
            <a:off x="1434704" y="3251200"/>
            <a:ext cx="1771650" cy="635000"/>
            <a:chOff x="388938" y="3243263"/>
            <a:chExt cx="2362200" cy="635000"/>
          </a:xfrm>
        </p:grpSpPr>
        <p:sp>
          <p:nvSpPr>
            <p:cNvPr id="28" name="AutoShape 35"/>
            <p:cNvSpPr>
              <a:spLocks noChangeArrowheads="1"/>
            </p:cNvSpPr>
            <p:nvPr/>
          </p:nvSpPr>
          <p:spPr bwMode="auto">
            <a:xfrm>
              <a:off x="388938" y="3243263"/>
              <a:ext cx="2362200" cy="635000"/>
            </a:xfrm>
            <a:prstGeom prst="roundRect">
              <a:avLst>
                <a:gd name="adj" fmla="val 16667"/>
              </a:avLst>
            </a:prstGeom>
            <a:solidFill>
              <a:srgbClr val="DDDDDD"/>
            </a:solidFill>
            <a:ln w="28575">
              <a:solidFill>
                <a:srgbClr val="CC3300"/>
              </a:solidFill>
              <a:round/>
              <a:headEnd/>
              <a:tailEnd/>
            </a:ln>
            <a:effectLst/>
          </p:spPr>
          <p:txBody>
            <a:bodyPr wrap="none" lIns="67866" tIns="33338" rIns="67866" bIns="33338" anchor="ctr"/>
            <a:lstStyle/>
            <a:p>
              <a:pPr algn="l">
                <a:lnSpc>
                  <a:spcPct val="85000"/>
                </a:lnSpc>
              </a:pPr>
              <a:r>
                <a:rPr lang="en-US" sz="1050"/>
                <a:t>Recipe &amp; Formula </a:t>
              </a:r>
              <a:br>
                <a:rPr lang="en-US" sz="1050"/>
              </a:br>
              <a:r>
                <a:rPr lang="en-US" sz="1050"/>
                <a:t>Development</a:t>
              </a:r>
            </a:p>
          </p:txBody>
        </p:sp>
        <p:pic>
          <p:nvPicPr>
            <p:cNvPr id="29" name="Picture 36" descr="Manufacturing: Chemical Process"/>
            <p:cNvPicPr>
              <a:picLocks noChangeAspect="1" noChangeArrowheads="1"/>
            </p:cNvPicPr>
            <p:nvPr/>
          </p:nvPicPr>
          <p:blipFill>
            <a:blip r:embed="rId11" cstate="print"/>
            <a:srcRect/>
            <a:stretch>
              <a:fillRect/>
            </a:stretch>
          </p:blipFill>
          <p:spPr bwMode="auto">
            <a:xfrm>
              <a:off x="2001838" y="3327400"/>
              <a:ext cx="625475" cy="481013"/>
            </a:xfrm>
            <a:prstGeom prst="rect">
              <a:avLst/>
            </a:prstGeom>
            <a:solidFill>
              <a:srgbClr val="DDDDDD"/>
            </a:solidFill>
            <a:ln w="9525">
              <a:noFill/>
              <a:miter lim="800000"/>
              <a:headEnd/>
              <a:tailEnd/>
            </a:ln>
            <a:effectLst/>
          </p:spPr>
        </p:pic>
      </p:grpSp>
      <p:sp>
        <p:nvSpPr>
          <p:cNvPr id="30" name="AutoShape 38"/>
          <p:cNvSpPr>
            <a:spLocks noChangeArrowheads="1"/>
          </p:cNvSpPr>
          <p:nvPr/>
        </p:nvSpPr>
        <p:spPr bwMode="auto">
          <a:xfrm>
            <a:off x="5923361" y="1498600"/>
            <a:ext cx="1781175" cy="635000"/>
          </a:xfrm>
          <a:prstGeom prst="roundRect">
            <a:avLst>
              <a:gd name="adj" fmla="val 16667"/>
            </a:avLst>
          </a:prstGeom>
          <a:solidFill>
            <a:srgbClr val="DDDDDD"/>
          </a:solidFill>
          <a:ln w="28575">
            <a:solidFill>
              <a:srgbClr val="CC3300"/>
            </a:solidFill>
            <a:round/>
            <a:headEnd/>
            <a:tailEnd/>
          </a:ln>
          <a:effectLst/>
        </p:spPr>
        <p:txBody>
          <a:bodyPr wrap="none" lIns="67866" tIns="33338" rIns="67866" bIns="33338" anchor="ctr"/>
          <a:lstStyle/>
          <a:p>
            <a:pPr algn="l">
              <a:lnSpc>
                <a:spcPct val="85000"/>
              </a:lnSpc>
            </a:pPr>
            <a:r>
              <a:rPr lang="en-US" sz="1050"/>
              <a:t>Quality-Oriented </a:t>
            </a:r>
            <a:br>
              <a:rPr lang="en-US" sz="1050"/>
            </a:br>
            <a:r>
              <a:rPr lang="en-US" sz="1050"/>
              <a:t>Process Management</a:t>
            </a:r>
          </a:p>
        </p:txBody>
      </p:sp>
      <p:pic>
        <p:nvPicPr>
          <p:cNvPr id="31" name="Picture 39" descr="Documents: Award"/>
          <p:cNvPicPr>
            <a:picLocks noChangeAspect="1" noChangeArrowheads="1"/>
          </p:cNvPicPr>
          <p:nvPr/>
        </p:nvPicPr>
        <p:blipFill>
          <a:blip r:embed="rId12" cstate="print"/>
          <a:srcRect/>
          <a:stretch>
            <a:fillRect/>
          </a:stretch>
        </p:blipFill>
        <p:spPr bwMode="auto">
          <a:xfrm>
            <a:off x="7390211" y="1566865"/>
            <a:ext cx="170259" cy="479425"/>
          </a:xfrm>
          <a:prstGeom prst="rect">
            <a:avLst/>
          </a:prstGeom>
          <a:solidFill>
            <a:srgbClr val="DDDDDD"/>
          </a:solidFill>
          <a:effectLst/>
        </p:spPr>
      </p:pic>
      <p:pic>
        <p:nvPicPr>
          <p:cNvPr id="32" name="Picture 40"/>
          <p:cNvPicPr preferRelativeResize="0">
            <a:picLocks noChangeAspect="1" noChangeArrowheads="1"/>
          </p:cNvPicPr>
          <p:nvPr/>
        </p:nvPicPr>
        <p:blipFill>
          <a:blip r:embed="rId13" cstate="print"/>
          <a:srcRect/>
          <a:stretch>
            <a:fillRect/>
          </a:stretch>
        </p:blipFill>
        <p:spPr bwMode="auto">
          <a:xfrm>
            <a:off x="7196138" y="1574800"/>
            <a:ext cx="278606" cy="388939"/>
          </a:xfrm>
          <a:prstGeom prst="rect">
            <a:avLst/>
          </a:prstGeom>
          <a:solidFill>
            <a:srgbClr val="DDDDDD"/>
          </a:solidFill>
          <a:effectLst/>
        </p:spPr>
      </p:pic>
      <p:grpSp>
        <p:nvGrpSpPr>
          <p:cNvPr id="25" name="Group 62"/>
          <p:cNvGrpSpPr/>
          <p:nvPr/>
        </p:nvGrpSpPr>
        <p:grpSpPr>
          <a:xfrm>
            <a:off x="5886451" y="3784600"/>
            <a:ext cx="1781175" cy="635000"/>
            <a:chOff x="6373813" y="4108450"/>
            <a:chExt cx="2374900" cy="635000"/>
          </a:xfrm>
        </p:grpSpPr>
        <p:sp>
          <p:nvSpPr>
            <p:cNvPr id="33" name="AutoShape 42"/>
            <p:cNvSpPr>
              <a:spLocks noChangeArrowheads="1"/>
            </p:cNvSpPr>
            <p:nvPr/>
          </p:nvSpPr>
          <p:spPr bwMode="auto">
            <a:xfrm>
              <a:off x="6373813" y="4108450"/>
              <a:ext cx="2374900" cy="635000"/>
            </a:xfrm>
            <a:prstGeom prst="roundRect">
              <a:avLst>
                <a:gd name="adj" fmla="val 16667"/>
              </a:avLst>
            </a:prstGeom>
            <a:solidFill>
              <a:srgbClr val="DDDDDD"/>
            </a:solidFill>
            <a:ln w="12700" cap="rnd">
              <a:solidFill>
                <a:srgbClr val="003399"/>
              </a:solidFill>
              <a:prstDash val="sysDot"/>
              <a:round/>
              <a:headEnd/>
              <a:tailEnd/>
            </a:ln>
            <a:effectLst/>
          </p:spPr>
          <p:txBody>
            <a:bodyPr wrap="none" lIns="67866" tIns="33338" rIns="67866" bIns="33338" anchor="ctr"/>
            <a:lstStyle/>
            <a:p>
              <a:pPr algn="l">
                <a:lnSpc>
                  <a:spcPct val="85000"/>
                </a:lnSpc>
              </a:pPr>
              <a:r>
                <a:rPr lang="en-US" sz="1050"/>
                <a:t>Ship Product</a:t>
              </a:r>
            </a:p>
          </p:txBody>
        </p:sp>
        <p:pic>
          <p:nvPicPr>
            <p:cNvPr id="34" name="Picture 43" descr="Oil: Truck"/>
            <p:cNvPicPr>
              <a:picLocks noChangeAspect="1" noChangeArrowheads="1"/>
            </p:cNvPicPr>
            <p:nvPr/>
          </p:nvPicPr>
          <p:blipFill>
            <a:blip r:embed="rId14" cstate="print"/>
            <a:srcRect/>
            <a:stretch>
              <a:fillRect/>
            </a:stretch>
          </p:blipFill>
          <p:spPr bwMode="auto">
            <a:xfrm>
              <a:off x="7980363" y="4189413"/>
              <a:ext cx="663575" cy="485775"/>
            </a:xfrm>
            <a:prstGeom prst="rect">
              <a:avLst/>
            </a:prstGeom>
            <a:solidFill>
              <a:srgbClr val="FFFFFF"/>
            </a:solidFill>
            <a:effectLst/>
          </p:spPr>
        </p:pic>
      </p:grpSp>
      <p:sp>
        <p:nvSpPr>
          <p:cNvPr id="35" name="AutoShape 45"/>
          <p:cNvSpPr>
            <a:spLocks noChangeArrowheads="1"/>
          </p:cNvSpPr>
          <p:nvPr/>
        </p:nvSpPr>
        <p:spPr bwMode="invGray">
          <a:xfrm>
            <a:off x="5635229" y="1697039"/>
            <a:ext cx="294084" cy="238125"/>
          </a:xfrm>
          <a:prstGeom prst="rightArrow">
            <a:avLst>
              <a:gd name="adj1" fmla="val 50000"/>
              <a:gd name="adj2" fmla="val 64045"/>
            </a:avLst>
          </a:prstGeom>
          <a:gradFill rotWithShape="0">
            <a:gsLst>
              <a:gs pos="0">
                <a:srgbClr val="B2B2B2">
                  <a:gamma/>
                  <a:shade val="46275"/>
                  <a:invGamma/>
                </a:srgbClr>
              </a:gs>
              <a:gs pos="50000">
                <a:srgbClr val="B2B2B2"/>
              </a:gs>
              <a:gs pos="100000">
                <a:srgbClr val="B2B2B2">
                  <a:gamma/>
                  <a:shade val="46275"/>
                  <a:invGamma/>
                </a:srgbClr>
              </a:gs>
            </a:gsLst>
            <a:lin ang="5400000" scaled="1"/>
          </a:gradFill>
          <a:ln w="9525">
            <a:noFill/>
            <a:miter lim="800000"/>
            <a:headEnd/>
            <a:tailEnd/>
          </a:ln>
          <a:effectLst/>
        </p:spPr>
        <p:txBody>
          <a:bodyPr rot="10800000" vert="eaVert" wrap="none" lIns="67866" tIns="33338" rIns="67866" bIns="33338" anchor="ctr"/>
          <a:lstStyle/>
          <a:p>
            <a:endParaRPr lang="en-US" sz="1350"/>
          </a:p>
        </p:txBody>
      </p:sp>
      <p:sp>
        <p:nvSpPr>
          <p:cNvPr id="36" name="AutoShape 46"/>
          <p:cNvSpPr>
            <a:spLocks noChangeArrowheads="1"/>
          </p:cNvSpPr>
          <p:nvPr/>
        </p:nvSpPr>
        <p:spPr bwMode="invGray">
          <a:xfrm>
            <a:off x="3394472" y="1697039"/>
            <a:ext cx="294084" cy="238125"/>
          </a:xfrm>
          <a:prstGeom prst="rightArrow">
            <a:avLst>
              <a:gd name="adj1" fmla="val 50000"/>
              <a:gd name="adj2" fmla="val 64045"/>
            </a:avLst>
          </a:prstGeom>
          <a:gradFill rotWithShape="0">
            <a:gsLst>
              <a:gs pos="0">
                <a:srgbClr val="B2B2B2">
                  <a:gamma/>
                  <a:shade val="46275"/>
                  <a:invGamma/>
                </a:srgbClr>
              </a:gs>
              <a:gs pos="50000">
                <a:srgbClr val="B2B2B2"/>
              </a:gs>
              <a:gs pos="100000">
                <a:srgbClr val="B2B2B2">
                  <a:gamma/>
                  <a:shade val="46275"/>
                  <a:invGamma/>
                </a:srgbClr>
              </a:gs>
            </a:gsLst>
            <a:lin ang="5400000" scaled="1"/>
          </a:gradFill>
          <a:ln w="9525">
            <a:noFill/>
            <a:miter lim="800000"/>
            <a:headEnd/>
            <a:tailEnd/>
          </a:ln>
          <a:effectLst/>
        </p:spPr>
        <p:txBody>
          <a:bodyPr rot="10800000" vert="eaVert" wrap="none" lIns="67866" tIns="33338" rIns="67866" bIns="33338" anchor="ctr"/>
          <a:lstStyle/>
          <a:p>
            <a:endParaRPr lang="en-US" sz="1350"/>
          </a:p>
        </p:txBody>
      </p:sp>
      <p:sp>
        <p:nvSpPr>
          <p:cNvPr id="37" name="AutoShape 50"/>
          <p:cNvSpPr>
            <a:spLocks noChangeArrowheads="1"/>
          </p:cNvSpPr>
          <p:nvPr/>
        </p:nvSpPr>
        <p:spPr bwMode="auto">
          <a:xfrm>
            <a:off x="3681413" y="5000625"/>
            <a:ext cx="1776413" cy="635000"/>
          </a:xfrm>
          <a:prstGeom prst="roundRect">
            <a:avLst>
              <a:gd name="adj" fmla="val 16667"/>
            </a:avLst>
          </a:prstGeom>
          <a:solidFill>
            <a:srgbClr val="DDDDDD"/>
          </a:solidFill>
          <a:ln w="28575">
            <a:solidFill>
              <a:srgbClr val="CC3300"/>
            </a:solidFill>
            <a:round/>
            <a:headEnd/>
            <a:tailEnd/>
          </a:ln>
          <a:effectLst/>
        </p:spPr>
        <p:txBody>
          <a:bodyPr wrap="none" lIns="67866" tIns="33338" rIns="67866" bIns="33338" anchor="ctr"/>
          <a:lstStyle/>
          <a:p>
            <a:pPr algn="l">
              <a:lnSpc>
                <a:spcPct val="85000"/>
              </a:lnSpc>
            </a:pPr>
            <a:r>
              <a:rPr lang="en-US" sz="1050"/>
              <a:t>Multi-Level </a:t>
            </a:r>
            <a:br>
              <a:rPr lang="en-US" sz="1050"/>
            </a:br>
            <a:r>
              <a:rPr lang="en-US" sz="1050"/>
              <a:t>Material/Resource </a:t>
            </a:r>
            <a:br>
              <a:rPr lang="en-US" sz="1050"/>
            </a:br>
            <a:r>
              <a:rPr lang="en-US" sz="1050"/>
              <a:t>Traceability</a:t>
            </a:r>
          </a:p>
        </p:txBody>
      </p:sp>
      <p:grpSp>
        <p:nvGrpSpPr>
          <p:cNvPr id="38" name="Group 155"/>
          <p:cNvGrpSpPr>
            <a:grpSpLocks/>
          </p:cNvGrpSpPr>
          <p:nvPr/>
        </p:nvGrpSpPr>
        <p:grpSpPr bwMode="auto">
          <a:xfrm>
            <a:off x="4858943" y="5065713"/>
            <a:ext cx="573881" cy="487363"/>
            <a:chOff x="3121" y="3191"/>
            <a:chExt cx="482" cy="307"/>
          </a:xfrm>
        </p:grpSpPr>
        <p:sp>
          <p:nvSpPr>
            <p:cNvPr id="39" name="Rectangle 52"/>
            <p:cNvSpPr>
              <a:spLocks noChangeArrowheads="1"/>
            </p:cNvSpPr>
            <p:nvPr/>
          </p:nvSpPr>
          <p:spPr bwMode="auto">
            <a:xfrm>
              <a:off x="3292" y="3191"/>
              <a:ext cx="137" cy="68"/>
            </a:xfrm>
            <a:prstGeom prst="rect">
              <a:avLst/>
            </a:prstGeom>
            <a:solidFill>
              <a:srgbClr val="DDDDDD"/>
            </a:solidFill>
            <a:ln w="9525">
              <a:solidFill>
                <a:srgbClr val="0066CC"/>
              </a:solidFill>
              <a:miter lim="800000"/>
              <a:headEnd/>
              <a:tailEnd/>
            </a:ln>
            <a:effectLst/>
          </p:spPr>
          <p:txBody>
            <a:bodyPr wrap="none" anchor="ctr"/>
            <a:lstStyle/>
            <a:p>
              <a:endParaRPr lang="en-US" sz="1350"/>
            </a:p>
          </p:txBody>
        </p:sp>
        <p:sp>
          <p:nvSpPr>
            <p:cNvPr id="40" name="Rectangle 53"/>
            <p:cNvSpPr>
              <a:spLocks noChangeArrowheads="1"/>
            </p:cNvSpPr>
            <p:nvPr/>
          </p:nvSpPr>
          <p:spPr bwMode="auto">
            <a:xfrm>
              <a:off x="3195" y="3314"/>
              <a:ext cx="135" cy="69"/>
            </a:xfrm>
            <a:prstGeom prst="rect">
              <a:avLst/>
            </a:prstGeom>
            <a:solidFill>
              <a:srgbClr val="DDDDDD"/>
            </a:solidFill>
            <a:ln w="9525">
              <a:solidFill>
                <a:srgbClr val="CC3300"/>
              </a:solidFill>
              <a:miter lim="800000"/>
              <a:headEnd/>
              <a:tailEnd/>
            </a:ln>
            <a:effectLst/>
          </p:spPr>
          <p:txBody>
            <a:bodyPr wrap="none" anchor="ctr"/>
            <a:lstStyle/>
            <a:p>
              <a:endParaRPr lang="en-US" sz="1350"/>
            </a:p>
          </p:txBody>
        </p:sp>
        <p:sp>
          <p:nvSpPr>
            <p:cNvPr id="41" name="Rectangle 54"/>
            <p:cNvSpPr>
              <a:spLocks noChangeArrowheads="1"/>
            </p:cNvSpPr>
            <p:nvPr/>
          </p:nvSpPr>
          <p:spPr bwMode="auto">
            <a:xfrm>
              <a:off x="3391" y="3314"/>
              <a:ext cx="137" cy="69"/>
            </a:xfrm>
            <a:prstGeom prst="rect">
              <a:avLst/>
            </a:prstGeom>
            <a:solidFill>
              <a:srgbClr val="DDDDDD"/>
            </a:solidFill>
            <a:ln w="9525">
              <a:solidFill>
                <a:srgbClr val="CC3300"/>
              </a:solidFill>
              <a:miter lim="800000"/>
              <a:headEnd/>
              <a:tailEnd/>
            </a:ln>
            <a:effectLst/>
          </p:spPr>
          <p:txBody>
            <a:bodyPr wrap="none" anchor="ctr"/>
            <a:lstStyle/>
            <a:p>
              <a:endParaRPr lang="en-US" sz="1350"/>
            </a:p>
          </p:txBody>
        </p:sp>
        <p:sp>
          <p:nvSpPr>
            <p:cNvPr id="42" name="Rectangle 55"/>
            <p:cNvSpPr>
              <a:spLocks noChangeArrowheads="1"/>
            </p:cNvSpPr>
            <p:nvPr/>
          </p:nvSpPr>
          <p:spPr bwMode="auto">
            <a:xfrm>
              <a:off x="3301" y="3430"/>
              <a:ext cx="135" cy="68"/>
            </a:xfrm>
            <a:prstGeom prst="rect">
              <a:avLst/>
            </a:prstGeom>
            <a:solidFill>
              <a:srgbClr val="DDDDDD"/>
            </a:solidFill>
            <a:ln w="9525">
              <a:solidFill>
                <a:srgbClr val="009900"/>
              </a:solidFill>
              <a:miter lim="800000"/>
              <a:headEnd/>
              <a:tailEnd/>
            </a:ln>
            <a:effectLst/>
          </p:spPr>
          <p:txBody>
            <a:bodyPr wrap="none" anchor="ctr"/>
            <a:lstStyle/>
            <a:p>
              <a:endParaRPr lang="en-US" sz="1350"/>
            </a:p>
          </p:txBody>
        </p:sp>
        <p:sp>
          <p:nvSpPr>
            <p:cNvPr id="43" name="Rectangle 56"/>
            <p:cNvSpPr>
              <a:spLocks noChangeArrowheads="1"/>
            </p:cNvSpPr>
            <p:nvPr/>
          </p:nvSpPr>
          <p:spPr bwMode="auto">
            <a:xfrm>
              <a:off x="3121" y="3429"/>
              <a:ext cx="137" cy="67"/>
            </a:xfrm>
            <a:prstGeom prst="rect">
              <a:avLst/>
            </a:prstGeom>
            <a:solidFill>
              <a:srgbClr val="DDDDDD"/>
            </a:solidFill>
            <a:ln w="9525">
              <a:solidFill>
                <a:srgbClr val="009900"/>
              </a:solidFill>
              <a:miter lim="800000"/>
              <a:headEnd/>
              <a:tailEnd/>
            </a:ln>
            <a:effectLst/>
          </p:spPr>
          <p:txBody>
            <a:bodyPr wrap="none" anchor="ctr"/>
            <a:lstStyle/>
            <a:p>
              <a:endParaRPr lang="en-US" sz="1350"/>
            </a:p>
          </p:txBody>
        </p:sp>
        <p:sp>
          <p:nvSpPr>
            <p:cNvPr id="44" name="Rectangle 57"/>
            <p:cNvSpPr>
              <a:spLocks noChangeArrowheads="1"/>
            </p:cNvSpPr>
            <p:nvPr/>
          </p:nvSpPr>
          <p:spPr bwMode="auto">
            <a:xfrm>
              <a:off x="3466" y="3430"/>
              <a:ext cx="137" cy="68"/>
            </a:xfrm>
            <a:prstGeom prst="rect">
              <a:avLst/>
            </a:prstGeom>
            <a:solidFill>
              <a:srgbClr val="DDDDDD"/>
            </a:solidFill>
            <a:ln w="9525">
              <a:solidFill>
                <a:srgbClr val="009900"/>
              </a:solidFill>
              <a:miter lim="800000"/>
              <a:headEnd/>
              <a:tailEnd/>
            </a:ln>
            <a:effectLst/>
          </p:spPr>
          <p:txBody>
            <a:bodyPr wrap="none" anchor="ctr"/>
            <a:lstStyle/>
            <a:p>
              <a:endParaRPr lang="en-US" sz="1350"/>
            </a:p>
          </p:txBody>
        </p:sp>
        <p:sp>
          <p:nvSpPr>
            <p:cNvPr id="45" name="Line 58"/>
            <p:cNvSpPr>
              <a:spLocks noChangeShapeType="1"/>
            </p:cNvSpPr>
            <p:nvPr/>
          </p:nvSpPr>
          <p:spPr bwMode="auto">
            <a:xfrm>
              <a:off x="3188" y="3396"/>
              <a:ext cx="349" cy="0"/>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46" name="Line 59"/>
            <p:cNvSpPr>
              <a:spLocks noChangeShapeType="1"/>
            </p:cNvSpPr>
            <p:nvPr/>
          </p:nvSpPr>
          <p:spPr bwMode="auto">
            <a:xfrm>
              <a:off x="3261" y="3286"/>
              <a:ext cx="197" cy="0"/>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47" name="Line 60"/>
            <p:cNvSpPr>
              <a:spLocks noChangeShapeType="1"/>
            </p:cNvSpPr>
            <p:nvPr/>
          </p:nvSpPr>
          <p:spPr bwMode="auto">
            <a:xfrm flipH="1">
              <a:off x="3366" y="3399"/>
              <a:ext cx="1" cy="31"/>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48" name="Line 61"/>
            <p:cNvSpPr>
              <a:spLocks noChangeShapeType="1"/>
            </p:cNvSpPr>
            <p:nvPr/>
          </p:nvSpPr>
          <p:spPr bwMode="auto">
            <a:xfrm flipH="1">
              <a:off x="3536" y="3396"/>
              <a:ext cx="1" cy="31"/>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49" name="Line 62"/>
            <p:cNvSpPr>
              <a:spLocks noChangeShapeType="1"/>
            </p:cNvSpPr>
            <p:nvPr/>
          </p:nvSpPr>
          <p:spPr bwMode="auto">
            <a:xfrm flipH="1">
              <a:off x="3188" y="3396"/>
              <a:ext cx="1" cy="31"/>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50" name="Line 63"/>
            <p:cNvSpPr>
              <a:spLocks noChangeShapeType="1"/>
            </p:cNvSpPr>
            <p:nvPr/>
          </p:nvSpPr>
          <p:spPr bwMode="auto">
            <a:xfrm flipH="1">
              <a:off x="3261" y="3286"/>
              <a:ext cx="1" cy="31"/>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51" name="Line 64"/>
            <p:cNvSpPr>
              <a:spLocks noChangeShapeType="1"/>
            </p:cNvSpPr>
            <p:nvPr/>
          </p:nvSpPr>
          <p:spPr bwMode="auto">
            <a:xfrm flipH="1">
              <a:off x="3457" y="3286"/>
              <a:ext cx="1" cy="31"/>
            </a:xfrm>
            <a:prstGeom prst="line">
              <a:avLst/>
            </a:prstGeom>
            <a:noFill/>
            <a:ln w="12700">
              <a:solidFill>
                <a:srgbClr val="000000"/>
              </a:solidFill>
              <a:round/>
              <a:headEnd type="none" w="sm" len="sm"/>
              <a:tailEnd type="none" w="sm" len="sm"/>
            </a:ln>
            <a:effectLst/>
          </p:spPr>
          <p:txBody>
            <a:bodyPr/>
            <a:lstStyle/>
            <a:p>
              <a:endParaRPr lang="en-US" sz="1350"/>
            </a:p>
          </p:txBody>
        </p:sp>
        <p:sp>
          <p:nvSpPr>
            <p:cNvPr id="52" name="Line 65"/>
            <p:cNvSpPr>
              <a:spLocks noChangeShapeType="1"/>
            </p:cNvSpPr>
            <p:nvPr/>
          </p:nvSpPr>
          <p:spPr bwMode="auto">
            <a:xfrm flipH="1">
              <a:off x="3359" y="3255"/>
              <a:ext cx="1" cy="31"/>
            </a:xfrm>
            <a:prstGeom prst="line">
              <a:avLst/>
            </a:prstGeom>
            <a:noFill/>
            <a:ln w="12700">
              <a:solidFill>
                <a:srgbClr val="000000"/>
              </a:solidFill>
              <a:round/>
              <a:headEnd type="none" w="sm" len="sm"/>
              <a:tailEnd type="none" w="sm" len="sm"/>
            </a:ln>
            <a:effectLst/>
          </p:spPr>
          <p:txBody>
            <a:bodyPr/>
            <a:lstStyle/>
            <a:p>
              <a:endParaRPr lang="en-US" sz="1350"/>
            </a:p>
          </p:txBody>
        </p:sp>
      </p:grpSp>
      <p:grpSp>
        <p:nvGrpSpPr>
          <p:cNvPr id="53" name="Group 68"/>
          <p:cNvGrpSpPr>
            <a:grpSpLocks/>
          </p:cNvGrpSpPr>
          <p:nvPr/>
        </p:nvGrpSpPr>
        <p:grpSpPr bwMode="auto">
          <a:xfrm>
            <a:off x="3676651" y="1498600"/>
            <a:ext cx="1787129" cy="635000"/>
            <a:chOff x="2118" y="968"/>
            <a:chExt cx="1501" cy="400"/>
          </a:xfrm>
        </p:grpSpPr>
        <p:sp>
          <p:nvSpPr>
            <p:cNvPr id="54" name="AutoShape 69"/>
            <p:cNvSpPr>
              <a:spLocks noChangeArrowheads="1"/>
            </p:cNvSpPr>
            <p:nvPr/>
          </p:nvSpPr>
          <p:spPr bwMode="auto">
            <a:xfrm>
              <a:off x="2118" y="968"/>
              <a:ext cx="1501" cy="400"/>
            </a:xfrm>
            <a:prstGeom prst="roundRect">
              <a:avLst>
                <a:gd name="adj" fmla="val 16667"/>
              </a:avLst>
            </a:prstGeom>
            <a:solidFill>
              <a:srgbClr val="DDDDDD"/>
            </a:solidFill>
            <a:ln w="12700">
              <a:solidFill>
                <a:srgbClr val="003399"/>
              </a:solidFill>
              <a:round/>
              <a:headEnd/>
              <a:tailEnd/>
            </a:ln>
            <a:effectLst/>
          </p:spPr>
          <p:txBody>
            <a:bodyPr wrap="none" lIns="67866" tIns="33338" rIns="67866" bIns="33338" anchor="ctr"/>
            <a:lstStyle/>
            <a:p>
              <a:pPr algn="l">
                <a:lnSpc>
                  <a:spcPct val="85000"/>
                </a:lnSpc>
              </a:pPr>
              <a:r>
                <a:rPr lang="en-US" sz="1050"/>
                <a:t>Inventory </a:t>
              </a:r>
              <a:br>
                <a:rPr lang="en-US" sz="1050"/>
              </a:br>
              <a:r>
                <a:rPr lang="en-US" sz="1050"/>
                <a:t>Management</a:t>
              </a:r>
            </a:p>
          </p:txBody>
        </p:sp>
        <p:pic>
          <p:nvPicPr>
            <p:cNvPr id="55" name="Picture 70" descr="gantt"/>
            <p:cNvPicPr preferRelativeResize="0">
              <a:picLocks noChangeAspect="1" noChangeArrowheads="1"/>
            </p:cNvPicPr>
            <p:nvPr/>
          </p:nvPicPr>
          <p:blipFill>
            <a:blip r:embed="rId5" cstate="print"/>
            <a:srcRect/>
            <a:stretch>
              <a:fillRect/>
            </a:stretch>
          </p:blipFill>
          <p:spPr bwMode="auto">
            <a:xfrm>
              <a:off x="3201" y="1018"/>
              <a:ext cx="204" cy="302"/>
            </a:xfrm>
            <a:prstGeom prst="rect">
              <a:avLst/>
            </a:prstGeom>
            <a:solidFill>
              <a:srgbClr val="DDDDDD"/>
            </a:solidFill>
            <a:ln w="9525">
              <a:noFill/>
              <a:miter lim="800000"/>
              <a:headEnd/>
              <a:tailEnd/>
            </a:ln>
            <a:effectLst/>
          </p:spPr>
        </p:pic>
      </p:grpSp>
      <p:sp>
        <p:nvSpPr>
          <p:cNvPr id="59" name="AutoShape 78"/>
          <p:cNvSpPr>
            <a:spLocks noChangeArrowheads="1"/>
          </p:cNvSpPr>
          <p:nvPr/>
        </p:nvSpPr>
        <p:spPr bwMode="auto">
          <a:xfrm>
            <a:off x="3675460" y="3241675"/>
            <a:ext cx="1787128" cy="635000"/>
          </a:xfrm>
          <a:prstGeom prst="roundRect">
            <a:avLst>
              <a:gd name="adj" fmla="val 16667"/>
            </a:avLst>
          </a:prstGeom>
          <a:solidFill>
            <a:srgbClr val="DDDDDD"/>
          </a:solidFill>
          <a:ln w="28575">
            <a:solidFill>
              <a:srgbClr val="CC3300"/>
            </a:solidFill>
            <a:round/>
            <a:headEnd/>
            <a:tailEnd/>
          </a:ln>
          <a:effectLst/>
        </p:spPr>
        <p:txBody>
          <a:bodyPr wrap="none" lIns="67866" tIns="33338" rIns="67866" bIns="33338" anchor="ctr"/>
          <a:lstStyle/>
          <a:p>
            <a:pPr algn="l">
              <a:lnSpc>
                <a:spcPct val="85000"/>
              </a:lnSpc>
            </a:pPr>
            <a:r>
              <a:rPr lang="en-US" sz="1050"/>
              <a:t>Process </a:t>
            </a:r>
            <a:br>
              <a:rPr lang="en-US" sz="1050"/>
            </a:br>
            <a:r>
              <a:rPr lang="en-US" sz="1050"/>
              <a:t>Management</a:t>
            </a:r>
          </a:p>
        </p:txBody>
      </p:sp>
      <p:pic>
        <p:nvPicPr>
          <p:cNvPr id="60" name="Picture 79" descr="gantt"/>
          <p:cNvPicPr preferRelativeResize="0">
            <a:picLocks noChangeAspect="1" noChangeArrowheads="1"/>
          </p:cNvPicPr>
          <p:nvPr/>
        </p:nvPicPr>
        <p:blipFill>
          <a:blip r:embed="rId5" cstate="print"/>
          <a:srcRect/>
          <a:stretch>
            <a:fillRect/>
          </a:stretch>
        </p:blipFill>
        <p:spPr bwMode="auto">
          <a:xfrm>
            <a:off x="4964906" y="3321051"/>
            <a:ext cx="242888" cy="479425"/>
          </a:xfrm>
          <a:prstGeom prst="rect">
            <a:avLst/>
          </a:prstGeom>
          <a:solidFill>
            <a:srgbClr val="DDDDDD"/>
          </a:solidFill>
          <a:ln w="9525">
            <a:noFill/>
            <a:miter lim="800000"/>
            <a:headEnd/>
            <a:tailEnd/>
          </a:ln>
          <a:effectLst/>
        </p:spPr>
      </p:pic>
      <p:sp>
        <p:nvSpPr>
          <p:cNvPr id="61" name="Rectangle 80"/>
          <p:cNvSpPr>
            <a:spLocks noChangeArrowheads="1"/>
          </p:cNvSpPr>
          <p:nvPr/>
        </p:nvSpPr>
        <p:spPr bwMode="invGray">
          <a:xfrm>
            <a:off x="3396855" y="1817689"/>
            <a:ext cx="82153" cy="3517900"/>
          </a:xfrm>
          <a:prstGeom prst="rect">
            <a:avLst/>
          </a:prstGeom>
          <a:gradFill rotWithShape="0">
            <a:gsLst>
              <a:gs pos="0">
                <a:srgbClr val="B2B2B2">
                  <a:gamma/>
                  <a:shade val="46275"/>
                  <a:invGamma/>
                </a:srgbClr>
              </a:gs>
              <a:gs pos="50000">
                <a:srgbClr val="B2B2B2"/>
              </a:gs>
              <a:gs pos="100000">
                <a:srgbClr val="B2B2B2">
                  <a:gamma/>
                  <a:shade val="46275"/>
                  <a:invGamma/>
                </a:srgbClr>
              </a:gs>
            </a:gsLst>
            <a:lin ang="0" scaled="1"/>
          </a:gradFill>
          <a:ln w="9525">
            <a:noFill/>
            <a:miter lim="800000"/>
            <a:headEnd/>
            <a:tailEnd/>
          </a:ln>
          <a:effectLst/>
        </p:spPr>
        <p:txBody>
          <a:bodyPr wrap="none" lIns="67866" tIns="33338" rIns="67866" bIns="33338" anchor="ctr"/>
          <a:lstStyle/>
          <a:p>
            <a:pPr algn="l">
              <a:spcBef>
                <a:spcPct val="50000"/>
              </a:spcBef>
            </a:pPr>
            <a:endParaRPr lang="de-DE" sz="1350">
              <a:latin typeface="Times New Roman" pitchFamily="18" charset="0"/>
            </a:endParaRPr>
          </a:p>
        </p:txBody>
      </p:sp>
      <p:sp>
        <p:nvSpPr>
          <p:cNvPr id="62" name="Rectangle 81"/>
          <p:cNvSpPr>
            <a:spLocks noChangeArrowheads="1"/>
          </p:cNvSpPr>
          <p:nvPr/>
        </p:nvSpPr>
        <p:spPr bwMode="invGray">
          <a:xfrm>
            <a:off x="5632849" y="1814514"/>
            <a:ext cx="82153" cy="3517900"/>
          </a:xfrm>
          <a:prstGeom prst="rect">
            <a:avLst/>
          </a:prstGeom>
          <a:gradFill rotWithShape="0">
            <a:gsLst>
              <a:gs pos="0">
                <a:srgbClr val="B2B2B2">
                  <a:gamma/>
                  <a:shade val="46275"/>
                  <a:invGamma/>
                </a:srgbClr>
              </a:gs>
              <a:gs pos="50000">
                <a:srgbClr val="B2B2B2"/>
              </a:gs>
              <a:gs pos="100000">
                <a:srgbClr val="B2B2B2">
                  <a:gamma/>
                  <a:shade val="46275"/>
                  <a:invGamma/>
                </a:srgbClr>
              </a:gs>
            </a:gsLst>
            <a:lin ang="0" scaled="1"/>
          </a:gradFill>
          <a:ln w="9525">
            <a:noFill/>
            <a:miter lim="800000"/>
            <a:headEnd/>
            <a:tailEnd/>
          </a:ln>
          <a:effectLst/>
        </p:spPr>
        <p:txBody>
          <a:bodyPr wrap="none" lIns="67866" tIns="33338" rIns="67866" bIns="33338" anchor="ctr"/>
          <a:lstStyle/>
          <a:p>
            <a:pPr algn="l">
              <a:spcBef>
                <a:spcPct val="50000"/>
              </a:spcBef>
            </a:pPr>
            <a:endParaRPr lang="de-DE" sz="1350">
              <a:latin typeface="Times New Roman" pitchFamily="18" charset="0"/>
            </a:endParaRPr>
          </a:p>
        </p:txBody>
      </p:sp>
      <p:grpSp>
        <p:nvGrpSpPr>
          <p:cNvPr id="56" name="Group 28"/>
          <p:cNvGrpSpPr>
            <a:grpSpLocks/>
          </p:cNvGrpSpPr>
          <p:nvPr/>
        </p:nvGrpSpPr>
        <p:grpSpPr bwMode="auto">
          <a:xfrm>
            <a:off x="1434704" y="1498600"/>
            <a:ext cx="1771650" cy="635000"/>
            <a:chOff x="248" y="968"/>
            <a:chExt cx="1488" cy="400"/>
          </a:xfrm>
        </p:grpSpPr>
        <p:sp>
          <p:nvSpPr>
            <p:cNvPr id="68" name="AutoShape 29"/>
            <p:cNvSpPr>
              <a:spLocks noChangeArrowheads="1"/>
            </p:cNvSpPr>
            <p:nvPr/>
          </p:nvSpPr>
          <p:spPr bwMode="auto">
            <a:xfrm>
              <a:off x="248" y="968"/>
              <a:ext cx="1488" cy="400"/>
            </a:xfrm>
            <a:prstGeom prst="roundRect">
              <a:avLst>
                <a:gd name="adj" fmla="val 12750"/>
              </a:avLst>
            </a:prstGeom>
            <a:solidFill>
              <a:srgbClr val="DDDDDD"/>
            </a:solidFill>
            <a:ln w="12700">
              <a:solidFill>
                <a:srgbClr val="003399"/>
              </a:solidFill>
              <a:round/>
              <a:headEnd/>
              <a:tailEnd/>
            </a:ln>
            <a:effectLst/>
          </p:spPr>
          <p:txBody>
            <a:bodyPr wrap="none" lIns="67866" tIns="33338" rIns="67866" bIns="33338" anchor="ctr"/>
            <a:lstStyle/>
            <a:p>
              <a:pPr algn="l">
                <a:lnSpc>
                  <a:spcPct val="85000"/>
                </a:lnSpc>
              </a:pPr>
              <a:r>
                <a:rPr lang="id-ID" sz="1050" dirty="0"/>
                <a:t>Capture </a:t>
              </a:r>
            </a:p>
            <a:p>
              <a:pPr algn="l">
                <a:lnSpc>
                  <a:spcPct val="85000"/>
                </a:lnSpc>
              </a:pPr>
              <a:r>
                <a:rPr lang="id-ID" sz="1050" dirty="0"/>
                <a:t>Customer Demand</a:t>
              </a:r>
              <a:endParaRPr lang="en-US" sz="1050" dirty="0"/>
            </a:p>
          </p:txBody>
        </p:sp>
        <p:pic>
          <p:nvPicPr>
            <p:cNvPr id="69" name="Picture 30" descr="factory"/>
            <p:cNvPicPr>
              <a:picLocks noChangeAspect="1" noChangeArrowheads="1"/>
            </p:cNvPicPr>
            <p:nvPr/>
          </p:nvPicPr>
          <p:blipFill>
            <a:blip r:embed="rId15" cstate="print"/>
            <a:srcRect/>
            <a:stretch>
              <a:fillRect/>
            </a:stretch>
          </p:blipFill>
          <p:spPr bwMode="invGray">
            <a:xfrm>
              <a:off x="1302" y="978"/>
              <a:ext cx="319" cy="352"/>
            </a:xfrm>
            <a:prstGeom prst="rect">
              <a:avLst/>
            </a:prstGeom>
            <a:solidFill>
              <a:srgbClr val="DDDDDD"/>
            </a:solidFill>
            <a:effectLst/>
          </p:spPr>
        </p:pic>
      </p:grpSp>
    </p:spTree>
    <p:extLst>
      <p:ext uri="{BB962C8B-B14F-4D97-AF65-F5344CB8AC3E}">
        <p14:creationId xmlns:p14="http://schemas.microsoft.com/office/powerpoint/2010/main" xmlns="" val="165956511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47800" y="627653"/>
            <a:ext cx="6629400" cy="57223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6107544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Formula : </a:t>
            </a:r>
            <a:r>
              <a:rPr lang="id-ID" b="0" dirty="0" smtClean="0"/>
              <a:t>Product</a:t>
            </a:r>
            <a:endParaRPr lang="en-US" b="0" dirty="0" smtClean="0"/>
          </a:p>
        </p:txBody>
      </p:sp>
      <p:pic>
        <p:nvPicPr>
          <p:cNvPr id="66562" name="Picture 2"/>
          <p:cNvPicPr>
            <a:picLocks noChangeAspect="1" noChangeArrowheads="1"/>
          </p:cNvPicPr>
          <p:nvPr/>
        </p:nvPicPr>
        <p:blipFill>
          <a:blip r:embed="rId2" cstate="print"/>
          <a:srcRect/>
          <a:stretch>
            <a:fillRect/>
          </a:stretch>
        </p:blipFill>
        <p:spPr bwMode="auto">
          <a:xfrm>
            <a:off x="1885952" y="1219200"/>
            <a:ext cx="5393531" cy="4800600"/>
          </a:xfrm>
          <a:prstGeom prst="rect">
            <a:avLst/>
          </a:prstGeom>
          <a:noFill/>
          <a:ln w="9525">
            <a:noFill/>
            <a:miter lim="800000"/>
            <a:headEnd/>
            <a:tailEnd/>
          </a:ln>
        </p:spPr>
      </p:pic>
    </p:spTree>
    <p:extLst>
      <p:ext uri="{BB962C8B-B14F-4D97-AF65-F5344CB8AC3E}">
        <p14:creationId xmlns:p14="http://schemas.microsoft.com/office/powerpoint/2010/main" xmlns="" val="122556451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Formula : </a:t>
            </a:r>
            <a:r>
              <a:rPr lang="id-ID" b="0" dirty="0" smtClean="0"/>
              <a:t>By-Product</a:t>
            </a:r>
            <a:endParaRPr lang="en-US" b="0" dirty="0" smtClean="0"/>
          </a:p>
        </p:txBody>
      </p:sp>
      <p:pic>
        <p:nvPicPr>
          <p:cNvPr id="67586" name="Picture 2"/>
          <p:cNvPicPr>
            <a:picLocks noChangeAspect="1" noChangeArrowheads="1"/>
          </p:cNvPicPr>
          <p:nvPr/>
        </p:nvPicPr>
        <p:blipFill>
          <a:blip r:embed="rId2" cstate="print"/>
          <a:srcRect/>
          <a:stretch>
            <a:fillRect/>
          </a:stretch>
        </p:blipFill>
        <p:spPr bwMode="auto">
          <a:xfrm>
            <a:off x="1875236" y="1143000"/>
            <a:ext cx="5393531" cy="4800600"/>
          </a:xfrm>
          <a:prstGeom prst="rect">
            <a:avLst/>
          </a:prstGeom>
          <a:noFill/>
          <a:ln w="9525">
            <a:noFill/>
            <a:miter lim="800000"/>
            <a:headEnd/>
            <a:tailEnd/>
          </a:ln>
        </p:spPr>
      </p:pic>
    </p:spTree>
    <p:extLst>
      <p:ext uri="{BB962C8B-B14F-4D97-AF65-F5344CB8AC3E}">
        <p14:creationId xmlns:p14="http://schemas.microsoft.com/office/powerpoint/2010/main" xmlns="" val="231752013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Formula : </a:t>
            </a:r>
            <a:r>
              <a:rPr lang="id-ID" b="0" dirty="0" smtClean="0"/>
              <a:t>Ingredients</a:t>
            </a:r>
            <a:endParaRPr lang="en-US" b="0" dirty="0" smtClean="0"/>
          </a:p>
        </p:txBody>
      </p:sp>
      <p:pic>
        <p:nvPicPr>
          <p:cNvPr id="68610" name="Picture 2"/>
          <p:cNvPicPr>
            <a:picLocks noChangeAspect="1" noChangeArrowheads="1"/>
          </p:cNvPicPr>
          <p:nvPr/>
        </p:nvPicPr>
        <p:blipFill>
          <a:blip r:embed="rId2" cstate="print"/>
          <a:srcRect/>
          <a:stretch>
            <a:fillRect/>
          </a:stretch>
        </p:blipFill>
        <p:spPr bwMode="auto">
          <a:xfrm>
            <a:off x="1875236" y="1066800"/>
            <a:ext cx="5393531" cy="4800600"/>
          </a:xfrm>
          <a:prstGeom prst="rect">
            <a:avLst/>
          </a:prstGeom>
          <a:noFill/>
          <a:ln w="9525">
            <a:noFill/>
            <a:miter lim="800000"/>
            <a:headEnd/>
            <a:tailEnd/>
          </a:ln>
        </p:spPr>
      </p:pic>
    </p:spTree>
    <p:extLst>
      <p:ext uri="{BB962C8B-B14F-4D97-AF65-F5344CB8AC3E}">
        <p14:creationId xmlns:p14="http://schemas.microsoft.com/office/powerpoint/2010/main" xmlns="" val="419556648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457200"/>
            <a:ext cx="8229600" cy="1143000"/>
          </a:xfrm>
        </p:spPr>
        <p:txBody>
          <a:bodyPr>
            <a:normAutofit fontScale="90000"/>
          </a:bodyPr>
          <a:lstStyle/>
          <a:p>
            <a:r>
              <a:rPr lang="id-ID" dirty="0" smtClean="0"/>
              <a:t>Process Routing</a:t>
            </a:r>
            <a:br>
              <a:rPr lang="id-ID" dirty="0" smtClean="0"/>
            </a:br>
            <a:r>
              <a:rPr lang="id-ID" b="0" dirty="0" smtClean="0"/>
              <a:t>Transformation Step to Make Product</a:t>
            </a:r>
            <a:endParaRPr lang="en-US" b="0" dirty="0" smtClean="0"/>
          </a:p>
        </p:txBody>
      </p:sp>
      <p:sp>
        <p:nvSpPr>
          <p:cNvPr id="3" name="Rectangle 5"/>
          <p:cNvSpPr>
            <a:spLocks noChangeArrowheads="1"/>
          </p:cNvSpPr>
          <p:nvPr/>
        </p:nvSpPr>
        <p:spPr bwMode="auto">
          <a:xfrm>
            <a:off x="2576514" y="4033838"/>
            <a:ext cx="1133475" cy="3683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9056" tIns="34529" rIns="69056" bIns="34529" anchor="ctr"/>
          <a:lstStyle/>
          <a:p>
            <a:pPr algn="ctr"/>
            <a:r>
              <a:rPr lang="en-GB" sz="1500" b="1" dirty="0">
                <a:solidFill>
                  <a:schemeClr val="tx1"/>
                </a:solidFill>
              </a:rPr>
              <a:t>Blending</a:t>
            </a:r>
          </a:p>
        </p:txBody>
      </p:sp>
      <p:sp>
        <p:nvSpPr>
          <p:cNvPr id="4" name="Rectangle 6"/>
          <p:cNvSpPr>
            <a:spLocks noChangeArrowheads="1"/>
          </p:cNvSpPr>
          <p:nvPr/>
        </p:nvSpPr>
        <p:spPr bwMode="auto">
          <a:xfrm>
            <a:off x="3948114" y="4033838"/>
            <a:ext cx="1076325" cy="3683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9056" tIns="34529" rIns="69056" bIns="34529" anchor="ctr"/>
          <a:lstStyle/>
          <a:p>
            <a:pPr algn="ctr"/>
            <a:r>
              <a:rPr lang="en-GB" sz="1500" b="1">
                <a:solidFill>
                  <a:schemeClr val="tx1"/>
                </a:solidFill>
              </a:rPr>
              <a:t>Extrusion</a:t>
            </a:r>
          </a:p>
        </p:txBody>
      </p:sp>
      <p:sp>
        <p:nvSpPr>
          <p:cNvPr id="5" name="Rectangle 7"/>
          <p:cNvSpPr>
            <a:spLocks noChangeArrowheads="1"/>
          </p:cNvSpPr>
          <p:nvPr/>
        </p:nvSpPr>
        <p:spPr bwMode="auto">
          <a:xfrm>
            <a:off x="5262564" y="4033838"/>
            <a:ext cx="904875" cy="3683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9056" tIns="34529" rIns="69056" bIns="34529" anchor="ctr"/>
          <a:lstStyle/>
          <a:p>
            <a:pPr algn="ctr"/>
            <a:r>
              <a:rPr lang="en-GB" sz="1500" b="1">
                <a:solidFill>
                  <a:schemeClr val="tx1"/>
                </a:solidFill>
              </a:rPr>
              <a:t>Pack</a:t>
            </a:r>
          </a:p>
        </p:txBody>
      </p:sp>
      <p:sp>
        <p:nvSpPr>
          <p:cNvPr id="6" name="Rectangle 8"/>
          <p:cNvSpPr>
            <a:spLocks noChangeArrowheads="1"/>
          </p:cNvSpPr>
          <p:nvPr/>
        </p:nvSpPr>
        <p:spPr bwMode="auto">
          <a:xfrm>
            <a:off x="6519864" y="4033838"/>
            <a:ext cx="904875" cy="3683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9056" tIns="34529" rIns="69056" bIns="34529" anchor="ctr"/>
          <a:lstStyle/>
          <a:p>
            <a:pPr algn="ctr"/>
            <a:r>
              <a:rPr lang="en-GB" sz="1500" b="1">
                <a:solidFill>
                  <a:schemeClr val="tx1"/>
                </a:solidFill>
              </a:rPr>
              <a:t>Routing</a:t>
            </a:r>
          </a:p>
        </p:txBody>
      </p:sp>
      <p:sp>
        <p:nvSpPr>
          <p:cNvPr id="7" name="Rectangle 9"/>
          <p:cNvSpPr>
            <a:spLocks noChangeArrowheads="1"/>
          </p:cNvSpPr>
          <p:nvPr/>
        </p:nvSpPr>
        <p:spPr bwMode="auto">
          <a:xfrm>
            <a:off x="6217445" y="4011613"/>
            <a:ext cx="254877" cy="346731"/>
          </a:xfrm>
          <a:prstGeom prst="rect">
            <a:avLst/>
          </a:prstGeom>
          <a:noFill/>
          <a:ln w="9525">
            <a:noFill/>
            <a:miter lim="800000"/>
            <a:headEnd/>
            <a:tailEnd/>
          </a:ln>
          <a:effectLst/>
        </p:spPr>
        <p:txBody>
          <a:bodyPr wrap="none" lIns="69056" tIns="34529" rIns="69056" bIns="34529">
            <a:spAutoFit/>
          </a:bodyPr>
          <a:lstStyle/>
          <a:p>
            <a:pPr algn="l"/>
            <a:r>
              <a:rPr lang="en-GB" b="1"/>
              <a:t>=</a:t>
            </a:r>
          </a:p>
        </p:txBody>
      </p:sp>
      <p:sp>
        <p:nvSpPr>
          <p:cNvPr id="8" name="Rectangle 10"/>
          <p:cNvSpPr>
            <a:spLocks noChangeArrowheads="1"/>
          </p:cNvSpPr>
          <p:nvPr/>
        </p:nvSpPr>
        <p:spPr bwMode="auto">
          <a:xfrm>
            <a:off x="3704036" y="4011613"/>
            <a:ext cx="254877" cy="346731"/>
          </a:xfrm>
          <a:prstGeom prst="rect">
            <a:avLst/>
          </a:prstGeom>
          <a:noFill/>
          <a:ln w="9525">
            <a:noFill/>
            <a:miter lim="800000"/>
            <a:headEnd/>
            <a:tailEnd/>
          </a:ln>
          <a:effectLst/>
        </p:spPr>
        <p:txBody>
          <a:bodyPr wrap="none" lIns="69056" tIns="34529" rIns="69056" bIns="34529">
            <a:spAutoFit/>
          </a:bodyPr>
          <a:lstStyle/>
          <a:p>
            <a:pPr algn="l"/>
            <a:r>
              <a:rPr lang="en-GB" b="1"/>
              <a:t>+</a:t>
            </a:r>
          </a:p>
        </p:txBody>
      </p:sp>
      <p:sp>
        <p:nvSpPr>
          <p:cNvPr id="9" name="Rectangle 11"/>
          <p:cNvSpPr>
            <a:spLocks noChangeArrowheads="1"/>
          </p:cNvSpPr>
          <p:nvPr/>
        </p:nvSpPr>
        <p:spPr bwMode="auto">
          <a:xfrm>
            <a:off x="5017294" y="4011613"/>
            <a:ext cx="254877" cy="346731"/>
          </a:xfrm>
          <a:prstGeom prst="rect">
            <a:avLst/>
          </a:prstGeom>
          <a:noFill/>
          <a:ln w="9525">
            <a:noFill/>
            <a:miter lim="800000"/>
            <a:headEnd/>
            <a:tailEnd/>
          </a:ln>
          <a:effectLst/>
        </p:spPr>
        <p:txBody>
          <a:bodyPr wrap="none" lIns="69056" tIns="34529" rIns="69056" bIns="34529">
            <a:spAutoFit/>
          </a:bodyPr>
          <a:lstStyle/>
          <a:p>
            <a:pPr algn="l"/>
            <a:r>
              <a:rPr lang="en-GB" b="1"/>
              <a:t>+</a:t>
            </a:r>
          </a:p>
        </p:txBody>
      </p:sp>
      <p:grpSp>
        <p:nvGrpSpPr>
          <p:cNvPr id="2" name="Group 18"/>
          <p:cNvGrpSpPr>
            <a:grpSpLocks/>
          </p:cNvGrpSpPr>
          <p:nvPr/>
        </p:nvGrpSpPr>
        <p:grpSpPr bwMode="auto">
          <a:xfrm>
            <a:off x="1816895" y="1803402"/>
            <a:ext cx="5264945" cy="1096963"/>
            <a:chOff x="566" y="1335"/>
            <a:chExt cx="4422" cy="691"/>
          </a:xfrm>
        </p:grpSpPr>
        <p:sp>
          <p:nvSpPr>
            <p:cNvPr id="11" name="Rectangle 12"/>
            <p:cNvSpPr>
              <a:spLocks noChangeArrowheads="1"/>
            </p:cNvSpPr>
            <p:nvPr/>
          </p:nvSpPr>
          <p:spPr bwMode="auto">
            <a:xfrm>
              <a:off x="566" y="1335"/>
              <a:ext cx="4329" cy="218"/>
            </a:xfrm>
            <a:prstGeom prst="rect">
              <a:avLst/>
            </a:prstGeom>
            <a:noFill/>
            <a:ln w="9525">
              <a:noFill/>
              <a:miter lim="800000"/>
              <a:headEnd/>
              <a:tailEnd/>
            </a:ln>
            <a:effectLst/>
          </p:spPr>
          <p:txBody>
            <a:bodyPr wrap="none" lIns="69056" tIns="34529" rIns="69056" bIns="34529">
              <a:spAutoFit/>
            </a:bodyPr>
            <a:lstStyle/>
            <a:p>
              <a:pPr algn="l"/>
              <a:r>
                <a:rPr lang="en-GB" b="1" dirty="0" smtClean="0"/>
                <a:t>Resources</a:t>
              </a:r>
              <a:r>
                <a:rPr lang="id-ID" b="1" dirty="0" smtClean="0"/>
                <a:t>        </a:t>
              </a:r>
              <a:r>
                <a:rPr lang="en-GB" dirty="0" smtClean="0"/>
                <a:t>+</a:t>
              </a:r>
              <a:r>
                <a:rPr lang="en-GB" dirty="0"/>
                <a:t>	</a:t>
              </a:r>
              <a:r>
                <a:rPr lang="en-GB" b="1" dirty="0" smtClean="0"/>
                <a:t>Activities</a:t>
              </a:r>
              <a:r>
                <a:rPr lang="id-ID" b="1" dirty="0" smtClean="0"/>
                <a:t>              </a:t>
              </a:r>
              <a:r>
                <a:rPr lang="en-GB" dirty="0" smtClean="0"/>
                <a:t>=</a:t>
              </a:r>
              <a:r>
                <a:rPr lang="en-GB" dirty="0"/>
                <a:t>	</a:t>
              </a:r>
              <a:r>
                <a:rPr lang="id-ID" dirty="0" smtClean="0"/>
                <a:t>     </a:t>
              </a:r>
              <a:r>
                <a:rPr lang="en-GB" b="1" dirty="0" smtClean="0"/>
                <a:t>Operations</a:t>
              </a:r>
              <a:endParaRPr lang="en-GB" b="1" dirty="0"/>
            </a:p>
          </p:txBody>
        </p:sp>
        <p:sp>
          <p:nvSpPr>
            <p:cNvPr id="12" name="Rectangle 13"/>
            <p:cNvSpPr>
              <a:spLocks noChangeArrowheads="1"/>
            </p:cNvSpPr>
            <p:nvPr/>
          </p:nvSpPr>
          <p:spPr bwMode="auto">
            <a:xfrm>
              <a:off x="580" y="1746"/>
              <a:ext cx="952" cy="28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69056" tIns="34529" rIns="69056" bIns="34529" anchor="ctr"/>
            <a:lstStyle/>
            <a:p>
              <a:pPr algn="ctr"/>
              <a:r>
                <a:rPr lang="en-GB" sz="1500" b="1" dirty="0"/>
                <a:t>Blender</a:t>
              </a:r>
            </a:p>
          </p:txBody>
        </p:sp>
        <p:sp>
          <p:nvSpPr>
            <p:cNvPr id="13" name="Rectangle 14"/>
            <p:cNvSpPr>
              <a:spLocks noChangeArrowheads="1"/>
            </p:cNvSpPr>
            <p:nvPr/>
          </p:nvSpPr>
          <p:spPr bwMode="auto">
            <a:xfrm>
              <a:off x="2116" y="1746"/>
              <a:ext cx="1144" cy="28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69056" tIns="34529" rIns="69056" bIns="34529" anchor="ctr"/>
            <a:lstStyle/>
            <a:p>
              <a:pPr algn="ctr"/>
              <a:r>
                <a:rPr lang="en-GB" sz="1500" b="1"/>
                <a:t>Run Blender</a:t>
              </a:r>
            </a:p>
          </p:txBody>
        </p:sp>
        <p:sp>
          <p:nvSpPr>
            <p:cNvPr id="14" name="Rectangle 15"/>
            <p:cNvSpPr>
              <a:spLocks noChangeArrowheads="1"/>
            </p:cNvSpPr>
            <p:nvPr/>
          </p:nvSpPr>
          <p:spPr bwMode="auto">
            <a:xfrm>
              <a:off x="3988" y="1746"/>
              <a:ext cx="1000" cy="28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69056" tIns="34529" rIns="69056" bIns="34529" anchor="ctr"/>
            <a:lstStyle/>
            <a:p>
              <a:pPr algn="ctr"/>
              <a:r>
                <a:rPr lang="en-GB" sz="1500" b="1"/>
                <a:t>Blending</a:t>
              </a:r>
            </a:p>
          </p:txBody>
        </p:sp>
        <p:sp>
          <p:nvSpPr>
            <p:cNvPr id="15" name="Rectangle 16"/>
            <p:cNvSpPr>
              <a:spLocks noChangeArrowheads="1"/>
            </p:cNvSpPr>
            <p:nvPr/>
          </p:nvSpPr>
          <p:spPr bwMode="auto">
            <a:xfrm>
              <a:off x="1719" y="1743"/>
              <a:ext cx="214" cy="218"/>
            </a:xfrm>
            <a:prstGeom prst="rect">
              <a:avLst/>
            </a:prstGeom>
            <a:noFill/>
            <a:ln w="9525">
              <a:noFill/>
              <a:miter lim="800000"/>
              <a:headEnd/>
              <a:tailEnd/>
            </a:ln>
            <a:effectLst/>
          </p:spPr>
          <p:txBody>
            <a:bodyPr wrap="none" lIns="69056" tIns="34529" rIns="69056" bIns="34529">
              <a:spAutoFit/>
            </a:bodyPr>
            <a:lstStyle/>
            <a:p>
              <a:pPr algn="l"/>
              <a:r>
                <a:rPr lang="en-GB"/>
                <a:t>+</a:t>
              </a:r>
            </a:p>
          </p:txBody>
        </p:sp>
        <p:sp>
          <p:nvSpPr>
            <p:cNvPr id="16" name="Rectangle 17"/>
            <p:cNvSpPr>
              <a:spLocks noChangeArrowheads="1"/>
            </p:cNvSpPr>
            <p:nvPr/>
          </p:nvSpPr>
          <p:spPr bwMode="auto">
            <a:xfrm>
              <a:off x="3446" y="1743"/>
              <a:ext cx="214" cy="218"/>
            </a:xfrm>
            <a:prstGeom prst="rect">
              <a:avLst/>
            </a:prstGeom>
            <a:noFill/>
            <a:ln w="9525">
              <a:noFill/>
              <a:miter lim="800000"/>
              <a:headEnd/>
              <a:tailEnd/>
            </a:ln>
            <a:effectLst/>
          </p:spPr>
          <p:txBody>
            <a:bodyPr wrap="none" lIns="69056" tIns="34529" rIns="69056" bIns="34529">
              <a:spAutoFit/>
            </a:bodyPr>
            <a:lstStyle/>
            <a:p>
              <a:pPr algn="l"/>
              <a:r>
                <a:rPr lang="en-GB"/>
                <a:t>=</a:t>
              </a:r>
            </a:p>
          </p:txBody>
        </p:sp>
      </p:grpSp>
      <p:sp>
        <p:nvSpPr>
          <p:cNvPr id="17" name="Rectangle 19"/>
          <p:cNvSpPr>
            <a:spLocks noChangeArrowheads="1"/>
          </p:cNvSpPr>
          <p:nvPr/>
        </p:nvSpPr>
        <p:spPr bwMode="auto">
          <a:xfrm>
            <a:off x="3474245" y="4621213"/>
            <a:ext cx="3357073" cy="346731"/>
          </a:xfrm>
          <a:prstGeom prst="rect">
            <a:avLst/>
          </a:prstGeom>
          <a:noFill/>
          <a:ln w="9525">
            <a:noFill/>
            <a:miter lim="800000"/>
            <a:headEnd/>
            <a:tailEnd/>
          </a:ln>
          <a:effectLst/>
        </p:spPr>
        <p:txBody>
          <a:bodyPr wrap="none" lIns="69056" tIns="34529" rIns="69056" bIns="34529">
            <a:spAutoFit/>
          </a:bodyPr>
          <a:lstStyle/>
          <a:p>
            <a:pPr algn="l"/>
            <a:r>
              <a:rPr lang="en-GB" b="1"/>
              <a:t>A Group of Operations  =  Routing</a:t>
            </a:r>
          </a:p>
        </p:txBody>
      </p:sp>
      <p:graphicFrame>
        <p:nvGraphicFramePr>
          <p:cNvPr id="18" name="Object 20"/>
          <p:cNvGraphicFramePr>
            <a:graphicFrameLocks/>
          </p:cNvGraphicFramePr>
          <p:nvPr>
            <p:extLst>
              <p:ext uri="{D42A27DB-BD31-4B8C-83A1-F6EECF244321}">
                <p14:modId xmlns:p14="http://schemas.microsoft.com/office/powerpoint/2010/main" xmlns="" val="1866789926"/>
              </p:ext>
            </p:extLst>
          </p:nvPr>
        </p:nvGraphicFramePr>
        <p:xfrm>
          <a:off x="1428752" y="4286250"/>
          <a:ext cx="1344215" cy="2089151"/>
        </p:xfrm>
        <a:graphic>
          <a:graphicData uri="http://schemas.openxmlformats.org/presentationml/2006/ole">
            <p:oleObj spid="_x0000_s1026" r:id="rId3" imgW="6323990" imgH="7443216" progId="">
              <p:embed/>
            </p:oleObj>
          </a:graphicData>
        </a:graphic>
      </p:graphicFrame>
      <p:sp>
        <p:nvSpPr>
          <p:cNvPr id="19" name="Line 21"/>
          <p:cNvSpPr>
            <a:spLocks noChangeShapeType="1"/>
          </p:cNvSpPr>
          <p:nvPr/>
        </p:nvSpPr>
        <p:spPr bwMode="auto">
          <a:xfrm flipH="1">
            <a:off x="3200400" y="2960687"/>
            <a:ext cx="3314700" cy="990600"/>
          </a:xfrm>
          <a:prstGeom prst="line">
            <a:avLst/>
          </a:prstGeom>
          <a:noFill/>
          <a:ln w="12700">
            <a:solidFill>
              <a:schemeClr val="tx1"/>
            </a:solidFill>
            <a:prstDash val="dash"/>
            <a:round/>
            <a:headEnd type="none" w="sm" len="sm"/>
            <a:tailEnd type="none" w="sm" len="sm"/>
          </a:ln>
          <a:effectLst/>
        </p:spPr>
        <p:txBody>
          <a:bodyPr/>
          <a:lstStyle/>
          <a:p>
            <a:endParaRPr lang="en-US" sz="1350"/>
          </a:p>
        </p:txBody>
      </p:sp>
    </p:spTree>
    <p:extLst>
      <p:ext uri="{BB962C8B-B14F-4D97-AF65-F5344CB8AC3E}">
        <p14:creationId xmlns:p14="http://schemas.microsoft.com/office/powerpoint/2010/main" xmlns="" val="84956533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Routing</a:t>
            </a:r>
            <a:endParaRPr lang="en-US" dirty="0" smtClean="0"/>
          </a:p>
        </p:txBody>
      </p:sp>
      <p:pic>
        <p:nvPicPr>
          <p:cNvPr id="62465" name="Picture 1"/>
          <p:cNvPicPr>
            <a:picLocks noChangeAspect="1" noChangeArrowheads="1"/>
          </p:cNvPicPr>
          <p:nvPr/>
        </p:nvPicPr>
        <p:blipFill>
          <a:blip r:embed="rId2" cstate="print"/>
          <a:srcRect/>
          <a:stretch>
            <a:fillRect/>
          </a:stretch>
        </p:blipFill>
        <p:spPr bwMode="auto">
          <a:xfrm>
            <a:off x="1843089" y="1270000"/>
            <a:ext cx="5457825" cy="4800600"/>
          </a:xfrm>
          <a:prstGeom prst="rect">
            <a:avLst/>
          </a:prstGeom>
          <a:noFill/>
          <a:ln w="9525">
            <a:noFill/>
            <a:miter lim="800000"/>
            <a:headEnd/>
            <a:tailEnd/>
          </a:ln>
        </p:spPr>
      </p:pic>
    </p:spTree>
    <p:extLst>
      <p:ext uri="{BB962C8B-B14F-4D97-AF65-F5344CB8AC3E}">
        <p14:creationId xmlns:p14="http://schemas.microsoft.com/office/powerpoint/2010/main" xmlns="" val="158009582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Operations</a:t>
            </a:r>
            <a:endParaRPr lang="en-US" dirty="0" smtClean="0"/>
          </a:p>
        </p:txBody>
      </p:sp>
      <p:pic>
        <p:nvPicPr>
          <p:cNvPr id="73730" name="Picture 2"/>
          <p:cNvPicPr>
            <a:picLocks noChangeAspect="1" noChangeArrowheads="1"/>
          </p:cNvPicPr>
          <p:nvPr/>
        </p:nvPicPr>
        <p:blipFill>
          <a:blip r:embed="rId2" cstate="print"/>
          <a:srcRect/>
          <a:stretch>
            <a:fillRect/>
          </a:stretch>
        </p:blipFill>
        <p:spPr bwMode="auto">
          <a:xfrm>
            <a:off x="2114550" y="1188013"/>
            <a:ext cx="4914900" cy="4374587"/>
          </a:xfrm>
          <a:prstGeom prst="rect">
            <a:avLst/>
          </a:prstGeom>
          <a:noFill/>
          <a:ln w="9525">
            <a:noFill/>
            <a:miter lim="800000"/>
            <a:headEnd/>
            <a:tailEnd/>
          </a:ln>
        </p:spPr>
      </p:pic>
      <p:sp>
        <p:nvSpPr>
          <p:cNvPr id="4" name="TextBox 3"/>
          <p:cNvSpPr txBox="1"/>
          <p:nvPr/>
        </p:nvSpPr>
        <p:spPr>
          <a:xfrm>
            <a:off x="1428750" y="5664201"/>
            <a:ext cx="6286500" cy="507831"/>
          </a:xfrm>
          <a:prstGeom prst="rect">
            <a:avLst/>
          </a:prstGeom>
          <a:noFill/>
        </p:spPr>
        <p:txBody>
          <a:bodyPr wrap="square" rtlCol="0">
            <a:spAutoFit/>
          </a:bodyPr>
          <a:lstStyle/>
          <a:p>
            <a:r>
              <a:rPr lang="en-US" sz="1350" dirty="0"/>
              <a:t>Operations are a combination of activities performed in a production batch and the resources used to perform those activities. </a:t>
            </a:r>
          </a:p>
        </p:txBody>
      </p:sp>
    </p:spTree>
    <p:extLst>
      <p:ext uri="{BB962C8B-B14F-4D97-AF65-F5344CB8AC3E}">
        <p14:creationId xmlns:p14="http://schemas.microsoft.com/office/powerpoint/2010/main" xmlns="" val="121674057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Activities</a:t>
            </a:r>
            <a:endParaRPr lang="en-US" dirty="0" smtClean="0"/>
          </a:p>
        </p:txBody>
      </p:sp>
      <p:pic>
        <p:nvPicPr>
          <p:cNvPr id="72706" name="Picture 2"/>
          <p:cNvPicPr>
            <a:picLocks noChangeAspect="1" noChangeArrowheads="1"/>
          </p:cNvPicPr>
          <p:nvPr/>
        </p:nvPicPr>
        <p:blipFill>
          <a:blip r:embed="rId2" cstate="print"/>
          <a:srcRect/>
          <a:stretch>
            <a:fillRect/>
          </a:stretch>
        </p:blipFill>
        <p:spPr bwMode="auto">
          <a:xfrm>
            <a:off x="2114551" y="1295400"/>
            <a:ext cx="4772025" cy="3429000"/>
          </a:xfrm>
          <a:prstGeom prst="rect">
            <a:avLst/>
          </a:prstGeom>
          <a:noFill/>
          <a:ln w="9525">
            <a:noFill/>
            <a:miter lim="800000"/>
            <a:headEnd/>
            <a:tailEnd/>
          </a:ln>
        </p:spPr>
      </p:pic>
      <p:sp>
        <p:nvSpPr>
          <p:cNvPr id="4" name="TextBox 3"/>
          <p:cNvSpPr txBox="1"/>
          <p:nvPr/>
        </p:nvSpPr>
        <p:spPr>
          <a:xfrm>
            <a:off x="1485900" y="5257800"/>
            <a:ext cx="6286500" cy="300082"/>
          </a:xfrm>
          <a:prstGeom prst="rect">
            <a:avLst/>
          </a:prstGeom>
          <a:noFill/>
        </p:spPr>
        <p:txBody>
          <a:bodyPr wrap="square" rtlCol="0">
            <a:spAutoFit/>
          </a:bodyPr>
          <a:lstStyle/>
          <a:p>
            <a:r>
              <a:rPr lang="en-US" sz="1350" dirty="0"/>
              <a:t>Activities are actions performed during production. </a:t>
            </a:r>
          </a:p>
        </p:txBody>
      </p:sp>
    </p:spTree>
    <p:extLst>
      <p:ext uri="{BB962C8B-B14F-4D97-AF65-F5344CB8AC3E}">
        <p14:creationId xmlns:p14="http://schemas.microsoft.com/office/powerpoint/2010/main" xmlns="" val="307820157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Resource (Generic)</a:t>
            </a:r>
            <a:endParaRPr lang="en-US" dirty="0" smtClean="0"/>
          </a:p>
        </p:txBody>
      </p:sp>
      <p:pic>
        <p:nvPicPr>
          <p:cNvPr id="70658" name="Picture 2"/>
          <p:cNvPicPr>
            <a:picLocks noChangeAspect="1" noChangeArrowheads="1"/>
          </p:cNvPicPr>
          <p:nvPr/>
        </p:nvPicPr>
        <p:blipFill>
          <a:blip r:embed="rId2" cstate="print"/>
          <a:srcRect/>
          <a:stretch>
            <a:fillRect/>
          </a:stretch>
        </p:blipFill>
        <p:spPr bwMode="auto">
          <a:xfrm>
            <a:off x="1885952" y="1219201"/>
            <a:ext cx="5393531" cy="3543300"/>
          </a:xfrm>
          <a:prstGeom prst="rect">
            <a:avLst/>
          </a:prstGeom>
          <a:noFill/>
          <a:ln w="9525">
            <a:noFill/>
            <a:miter lim="800000"/>
            <a:headEnd/>
            <a:tailEnd/>
          </a:ln>
        </p:spPr>
      </p:pic>
      <p:sp>
        <p:nvSpPr>
          <p:cNvPr id="4" name="TextBox 3"/>
          <p:cNvSpPr txBox="1"/>
          <p:nvPr/>
        </p:nvSpPr>
        <p:spPr>
          <a:xfrm>
            <a:off x="1428751" y="4953000"/>
            <a:ext cx="6286500" cy="923330"/>
          </a:xfrm>
          <a:prstGeom prst="rect">
            <a:avLst/>
          </a:prstGeom>
          <a:noFill/>
        </p:spPr>
        <p:txBody>
          <a:bodyPr wrap="square" rtlCol="0">
            <a:spAutoFit/>
          </a:bodyPr>
          <a:lstStyle/>
          <a:p>
            <a:r>
              <a:rPr lang="en-US" sz="1350" dirty="0"/>
              <a:t>Resources are the</a:t>
            </a:r>
            <a:r>
              <a:rPr lang="id-ID" sz="1350" dirty="0"/>
              <a:t> </a:t>
            </a:r>
            <a:r>
              <a:rPr lang="en-US" sz="1350" dirty="0"/>
              <a:t>assets to produce batches, including production equipment, and employee labor. You</a:t>
            </a:r>
            <a:r>
              <a:rPr lang="id-ID" sz="1350" dirty="0"/>
              <a:t> </a:t>
            </a:r>
            <a:r>
              <a:rPr lang="en-US" sz="1350" dirty="0"/>
              <a:t>can define each resource generally, for example, OVENS, or specifically OVEN 1, OVEN</a:t>
            </a:r>
            <a:r>
              <a:rPr lang="id-ID" sz="1350" dirty="0"/>
              <a:t> </a:t>
            </a:r>
            <a:r>
              <a:rPr lang="en-US" sz="1350" dirty="0"/>
              <a:t>2 . . . OVEN n. For each resource, assign a classification code for cost management</a:t>
            </a:r>
            <a:r>
              <a:rPr lang="id-ID" sz="1350" dirty="0"/>
              <a:t> </a:t>
            </a:r>
            <a:r>
              <a:rPr lang="en-US" sz="1350" dirty="0"/>
              <a:t>purposes.</a:t>
            </a:r>
          </a:p>
        </p:txBody>
      </p:sp>
    </p:spTree>
    <p:extLst>
      <p:ext uri="{BB962C8B-B14F-4D97-AF65-F5344CB8AC3E}">
        <p14:creationId xmlns:p14="http://schemas.microsoft.com/office/powerpoint/2010/main" xmlns="" val="70103589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Resource (Plant)</a:t>
            </a:r>
            <a:endParaRPr lang="en-US" dirty="0" smtClean="0"/>
          </a:p>
        </p:txBody>
      </p:sp>
      <p:sp>
        <p:nvSpPr>
          <p:cNvPr id="4" name="TextBox 3"/>
          <p:cNvSpPr txBox="1"/>
          <p:nvPr/>
        </p:nvSpPr>
        <p:spPr>
          <a:xfrm>
            <a:off x="1428751" y="5021184"/>
            <a:ext cx="6286500" cy="1015663"/>
          </a:xfrm>
          <a:prstGeom prst="rect">
            <a:avLst/>
          </a:prstGeom>
          <a:noFill/>
        </p:spPr>
        <p:txBody>
          <a:bodyPr wrap="square" rtlCol="0">
            <a:spAutoFit/>
          </a:bodyPr>
          <a:lstStyle/>
          <a:p>
            <a:r>
              <a:rPr lang="en-US" sz="1200" dirty="0"/>
              <a:t>A resource may operate at a different capacity at one production inventory organization than it does at another. For scheduling, the resource must be defined at the inventory organization. If the resource is not enabled at the inventory organization, then it is assumed that the resource does not exist there. Use the Resource Information window to enter inventory organization specific information regarding each resource.</a:t>
            </a:r>
          </a:p>
        </p:txBody>
      </p:sp>
      <p:pic>
        <p:nvPicPr>
          <p:cNvPr id="71682" name="Picture 2"/>
          <p:cNvPicPr>
            <a:picLocks noChangeAspect="1" noChangeArrowheads="1"/>
          </p:cNvPicPr>
          <p:nvPr/>
        </p:nvPicPr>
        <p:blipFill>
          <a:blip r:embed="rId2" cstate="print"/>
          <a:srcRect/>
          <a:stretch>
            <a:fillRect/>
          </a:stretch>
        </p:blipFill>
        <p:spPr bwMode="auto">
          <a:xfrm>
            <a:off x="2114550" y="1103458"/>
            <a:ext cx="4114800" cy="3951143"/>
          </a:xfrm>
          <a:prstGeom prst="rect">
            <a:avLst/>
          </a:prstGeom>
          <a:noFill/>
          <a:ln w="9525">
            <a:noFill/>
            <a:miter lim="800000"/>
            <a:headEnd/>
            <a:tailEnd/>
          </a:ln>
        </p:spPr>
      </p:pic>
    </p:spTree>
    <p:extLst>
      <p:ext uri="{BB962C8B-B14F-4D97-AF65-F5344CB8AC3E}">
        <p14:creationId xmlns:p14="http://schemas.microsoft.com/office/powerpoint/2010/main" xmlns="" val="43078708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0999"/>
            <a:ext cx="8229600" cy="1036639"/>
          </a:xfrm>
        </p:spPr>
        <p:txBody>
          <a:bodyPr/>
          <a:lstStyle/>
          <a:p>
            <a:r>
              <a:rPr lang="id-ID" b="1" dirty="0" smtClean="0"/>
              <a:t>AGENDA</a:t>
            </a:r>
            <a:endParaRPr lang="id-ID" b="1" dirty="0"/>
          </a:p>
        </p:txBody>
      </p:sp>
      <p:graphicFrame>
        <p:nvGraphicFramePr>
          <p:cNvPr id="10" name="Table 9"/>
          <p:cNvGraphicFramePr>
            <a:graphicFrameLocks noGrp="1"/>
          </p:cNvGraphicFramePr>
          <p:nvPr>
            <p:extLst>
              <p:ext uri="{D42A27DB-BD31-4B8C-83A1-F6EECF244321}">
                <p14:modId xmlns:p14="http://schemas.microsoft.com/office/powerpoint/2010/main" xmlns="" val="608932727"/>
              </p:ext>
            </p:extLst>
          </p:nvPr>
        </p:nvGraphicFramePr>
        <p:xfrm>
          <a:off x="2895600" y="2514600"/>
          <a:ext cx="4495800" cy="1600200"/>
        </p:xfrm>
        <a:graphic>
          <a:graphicData uri="http://schemas.openxmlformats.org/drawingml/2006/table">
            <a:tbl>
              <a:tblPr bandRow="1">
                <a:tableStyleId>{C083E6E3-FA7D-4D7B-A595-EF9225AFEA82}</a:tableStyleId>
              </a:tblPr>
              <a:tblGrid>
                <a:gridCol w="4495800"/>
              </a:tblGrid>
              <a:tr h="528320">
                <a:tc>
                  <a:txBody>
                    <a:bodyPr/>
                    <a:lstStyle/>
                    <a:p>
                      <a:pPr marL="0" indent="0">
                        <a:buFont typeface="+mj-lt"/>
                        <a:buNone/>
                      </a:pPr>
                      <a:r>
                        <a:rPr lang="id-ID" sz="2700" dirty="0" smtClean="0">
                          <a:solidFill>
                            <a:schemeClr val="bg1">
                              <a:lumMod val="95000"/>
                            </a:schemeClr>
                          </a:solidFill>
                        </a:rPr>
                        <a:t>1. Product </a:t>
                      </a:r>
                      <a:r>
                        <a:rPr lang="id-ID" sz="2700" dirty="0" smtClean="0">
                          <a:solidFill>
                            <a:schemeClr val="bg1">
                              <a:lumMod val="95000"/>
                            </a:schemeClr>
                          </a:solidFill>
                        </a:rPr>
                        <a:t>Developmen</a:t>
                      </a:r>
                      <a:r>
                        <a:rPr lang="en-US" sz="2700" dirty="0" smtClean="0">
                          <a:solidFill>
                            <a:schemeClr val="bg1">
                              <a:lumMod val="95000"/>
                            </a:schemeClr>
                          </a:solidFill>
                        </a:rPr>
                        <a:t>t</a:t>
                      </a:r>
                      <a:endParaRPr lang="id-ID" sz="2700" dirty="0">
                        <a:solidFill>
                          <a:schemeClr val="bg1">
                            <a:lumMod val="95000"/>
                          </a:schemeClr>
                        </a:solidFill>
                      </a:endParaRPr>
                    </a:p>
                  </a:txBody>
                  <a:tcPr marT="60960" marB="60960"/>
                </a:tc>
              </a:tr>
              <a:tr h="528320">
                <a:tc>
                  <a:txBody>
                    <a:bodyPr/>
                    <a:lstStyle/>
                    <a:p>
                      <a:pPr marL="0" indent="0">
                        <a:buFont typeface="+mj-lt"/>
                        <a:buNone/>
                      </a:pPr>
                      <a:r>
                        <a:rPr lang="id-ID" sz="2700" dirty="0" smtClean="0">
                          <a:solidFill>
                            <a:schemeClr val="tx1"/>
                          </a:solidFill>
                        </a:rPr>
                        <a:t>2. </a:t>
                      </a:r>
                      <a:r>
                        <a:rPr lang="en-US" sz="2700" dirty="0" smtClean="0">
                          <a:solidFill>
                            <a:schemeClr val="tx1"/>
                          </a:solidFill>
                        </a:rPr>
                        <a:t>Process Execution</a:t>
                      </a:r>
                      <a:endParaRPr lang="id-ID" sz="2700" dirty="0">
                        <a:solidFill>
                          <a:schemeClr val="tx1"/>
                        </a:solidFill>
                      </a:endParaRPr>
                    </a:p>
                  </a:txBody>
                  <a:tcPr marT="60960" marB="60960"/>
                </a:tc>
              </a:tr>
              <a:tr h="528320">
                <a:tc>
                  <a:txBody>
                    <a:bodyPr/>
                    <a:lstStyle/>
                    <a:p>
                      <a:pPr marL="0" indent="0">
                        <a:buFont typeface="+mj-lt"/>
                        <a:buNone/>
                      </a:pPr>
                      <a:r>
                        <a:rPr lang="id-ID" sz="2700" dirty="0" smtClean="0">
                          <a:solidFill>
                            <a:schemeClr val="bg1">
                              <a:lumMod val="95000"/>
                            </a:schemeClr>
                          </a:solidFill>
                        </a:rPr>
                        <a:t>3. </a:t>
                      </a:r>
                      <a:r>
                        <a:rPr lang="en-US" sz="2700" dirty="0" smtClean="0">
                          <a:solidFill>
                            <a:schemeClr val="bg1">
                              <a:lumMod val="95000"/>
                            </a:schemeClr>
                          </a:solidFill>
                        </a:rPr>
                        <a:t>Costing</a:t>
                      </a:r>
                      <a:endParaRPr lang="id-ID" sz="2700" dirty="0">
                        <a:solidFill>
                          <a:schemeClr val="bg1">
                            <a:lumMod val="95000"/>
                          </a:schemeClr>
                        </a:solidFill>
                      </a:endParaRPr>
                    </a:p>
                  </a:txBody>
                  <a:tcPr marT="60960" marB="60960"/>
                </a:tc>
              </a:tr>
            </a:tbl>
          </a:graphicData>
        </a:graphic>
      </p:graphicFrame>
    </p:spTree>
    <p:extLst>
      <p:ext uri="{BB962C8B-B14F-4D97-AF65-F5344CB8AC3E}">
        <p14:creationId xmlns:p14="http://schemas.microsoft.com/office/powerpoint/2010/main" xmlns="" val="794191769"/>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584200"/>
            <a:ext cx="6172200" cy="57529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40099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95400" y="685800"/>
            <a:ext cx="6306005" cy="568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49699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Production Batch Life Cycle</a:t>
            </a:r>
            <a:endParaRPr lang="en-US" b="0" dirty="0" smtClean="0"/>
          </a:p>
        </p:txBody>
      </p:sp>
      <p:sp>
        <p:nvSpPr>
          <p:cNvPr id="17" name="Rectangle 5"/>
          <p:cNvSpPr>
            <a:spLocks noChangeArrowheads="1"/>
          </p:cNvSpPr>
          <p:nvPr/>
        </p:nvSpPr>
        <p:spPr bwMode="auto">
          <a:xfrm>
            <a:off x="1428750" y="3775813"/>
            <a:ext cx="6286500" cy="1939187"/>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none" anchor="ctr"/>
          <a:lstStyle/>
          <a:p>
            <a:endParaRPr lang="en-US" sz="1350" b="1"/>
          </a:p>
        </p:txBody>
      </p:sp>
      <p:sp>
        <p:nvSpPr>
          <p:cNvPr id="18" name="AutoShape 6"/>
          <p:cNvSpPr>
            <a:spLocks noChangeArrowheads="1"/>
          </p:cNvSpPr>
          <p:nvPr/>
        </p:nvSpPr>
        <p:spPr bwMode="auto">
          <a:xfrm>
            <a:off x="1600200" y="1524001"/>
            <a:ext cx="1041494" cy="1255035"/>
          </a:xfrm>
          <a:prstGeom prst="roundRect">
            <a:avLst>
              <a:gd name="adj" fmla="val 12495"/>
            </a:avLst>
          </a:prstGeom>
          <a:ln>
            <a:headEnd/>
            <a:tailEnd/>
          </a:ln>
        </p:spPr>
        <p:style>
          <a:lnRef idx="1">
            <a:schemeClr val="accent3"/>
          </a:lnRef>
          <a:fillRef idx="2">
            <a:schemeClr val="accent3"/>
          </a:fillRef>
          <a:effectRef idx="1">
            <a:schemeClr val="accent3"/>
          </a:effectRef>
          <a:fontRef idx="minor">
            <a:schemeClr val="dk1"/>
          </a:fontRef>
        </p:style>
        <p:txBody>
          <a:bodyPr wrap="none" lIns="61913" tIns="30956" rIns="61913" bIns="30956" anchor="ctr"/>
          <a:lstStyle/>
          <a:p>
            <a:pPr defTabSz="554831"/>
            <a:r>
              <a:rPr lang="en-GB" sz="1350" b="1"/>
              <a:t>Inventory</a:t>
            </a:r>
          </a:p>
          <a:p>
            <a:pPr defTabSz="554831"/>
            <a:r>
              <a:rPr lang="en-GB" sz="1350" b="1"/>
              <a:t>Shortage</a:t>
            </a:r>
          </a:p>
          <a:p>
            <a:pPr defTabSz="554831"/>
            <a:r>
              <a:rPr lang="en-GB" sz="1350" b="1"/>
              <a:t>Check*</a:t>
            </a:r>
          </a:p>
        </p:txBody>
      </p:sp>
      <p:sp>
        <p:nvSpPr>
          <p:cNvPr id="19" name="AutoShape 8"/>
          <p:cNvSpPr>
            <a:spLocks noChangeArrowheads="1"/>
          </p:cNvSpPr>
          <p:nvPr/>
        </p:nvSpPr>
        <p:spPr bwMode="auto">
          <a:xfrm>
            <a:off x="3178347" y="1524001"/>
            <a:ext cx="993604" cy="1255035"/>
          </a:xfrm>
          <a:prstGeom prst="roundRect">
            <a:avLst>
              <a:gd name="adj" fmla="val 12495"/>
            </a:avLst>
          </a:prstGeom>
          <a:ln>
            <a:headEnd/>
            <a:tailEnd/>
          </a:ln>
        </p:spPr>
        <p:style>
          <a:lnRef idx="1">
            <a:schemeClr val="accent3"/>
          </a:lnRef>
          <a:fillRef idx="2">
            <a:schemeClr val="accent3"/>
          </a:fillRef>
          <a:effectRef idx="1">
            <a:schemeClr val="accent3"/>
          </a:effectRef>
          <a:fontRef idx="minor">
            <a:schemeClr val="dk1"/>
          </a:fontRef>
        </p:style>
        <p:txBody>
          <a:bodyPr wrap="none" lIns="61913" tIns="30956" rIns="61913" bIns="30956" anchor="ctr"/>
          <a:lstStyle/>
          <a:p>
            <a:pPr defTabSz="554831"/>
            <a:r>
              <a:rPr lang="en-GB" sz="1350" b="1" dirty="0"/>
              <a:t>Inventory</a:t>
            </a:r>
          </a:p>
          <a:p>
            <a:pPr defTabSz="554831"/>
            <a:r>
              <a:rPr lang="en-GB" sz="1350" b="1" dirty="0"/>
              <a:t>Shortage</a:t>
            </a:r>
          </a:p>
          <a:p>
            <a:pPr defTabSz="554831"/>
            <a:r>
              <a:rPr lang="en-GB" sz="1350" b="1" dirty="0"/>
              <a:t>Check*</a:t>
            </a:r>
          </a:p>
        </p:txBody>
      </p:sp>
      <p:sp>
        <p:nvSpPr>
          <p:cNvPr id="20" name="Rectangle 12"/>
          <p:cNvSpPr>
            <a:spLocks noChangeArrowheads="1"/>
          </p:cNvSpPr>
          <p:nvPr/>
        </p:nvSpPr>
        <p:spPr bwMode="auto">
          <a:xfrm>
            <a:off x="2477414" y="3873227"/>
            <a:ext cx="780137" cy="164468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1913" tIns="30956" rIns="61913" bIns="30956" anchor="ctr"/>
          <a:lstStyle/>
          <a:p>
            <a:pPr defTabSz="554831"/>
            <a:r>
              <a:rPr lang="en-GB" sz="1350" b="1" dirty="0">
                <a:solidFill>
                  <a:schemeClr val="tx1"/>
                </a:solidFill>
              </a:rPr>
              <a:t>Pending</a:t>
            </a:r>
          </a:p>
        </p:txBody>
      </p:sp>
      <p:sp>
        <p:nvSpPr>
          <p:cNvPr id="21" name="Rectangle 13"/>
          <p:cNvSpPr>
            <a:spLocks noChangeArrowheads="1"/>
          </p:cNvSpPr>
          <p:nvPr/>
        </p:nvSpPr>
        <p:spPr bwMode="auto">
          <a:xfrm>
            <a:off x="3935411" y="3873227"/>
            <a:ext cx="747480" cy="164468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1913" tIns="30956" rIns="61913" bIns="30956" anchor="ctr"/>
          <a:lstStyle/>
          <a:p>
            <a:pPr defTabSz="554831"/>
            <a:r>
              <a:rPr lang="en-GB" sz="1350" b="1">
                <a:solidFill>
                  <a:schemeClr val="tx1"/>
                </a:solidFill>
              </a:rPr>
              <a:t>WIP</a:t>
            </a:r>
          </a:p>
        </p:txBody>
      </p:sp>
      <p:sp>
        <p:nvSpPr>
          <p:cNvPr id="22" name="Rectangle 14"/>
          <p:cNvSpPr>
            <a:spLocks noChangeArrowheads="1"/>
          </p:cNvSpPr>
          <p:nvPr/>
        </p:nvSpPr>
        <p:spPr bwMode="auto">
          <a:xfrm>
            <a:off x="5393408" y="3873227"/>
            <a:ext cx="835943" cy="164468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1913" tIns="30956" rIns="61913" bIns="30956" anchor="ctr"/>
          <a:lstStyle/>
          <a:p>
            <a:pPr defTabSz="554831"/>
            <a:r>
              <a:rPr lang="en-GB" sz="1350" b="1">
                <a:solidFill>
                  <a:schemeClr val="tx1"/>
                </a:solidFill>
              </a:rPr>
              <a:t>Certified</a:t>
            </a:r>
          </a:p>
        </p:txBody>
      </p:sp>
      <p:sp>
        <p:nvSpPr>
          <p:cNvPr id="23" name="Rectangle 15"/>
          <p:cNvSpPr>
            <a:spLocks noChangeArrowheads="1"/>
          </p:cNvSpPr>
          <p:nvPr/>
        </p:nvSpPr>
        <p:spPr bwMode="auto">
          <a:xfrm>
            <a:off x="6793907" y="3873227"/>
            <a:ext cx="746111" cy="164468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61913" tIns="30956" rIns="61913" bIns="30956" anchor="ctr"/>
          <a:lstStyle/>
          <a:p>
            <a:pPr defTabSz="554831"/>
            <a:r>
              <a:rPr lang="en-GB" sz="1350" b="1">
                <a:solidFill>
                  <a:schemeClr val="tx1"/>
                </a:solidFill>
              </a:rPr>
              <a:t>Closed</a:t>
            </a:r>
          </a:p>
        </p:txBody>
      </p:sp>
      <p:sp>
        <p:nvSpPr>
          <p:cNvPr id="24" name="AutoShape 16"/>
          <p:cNvSpPr>
            <a:spLocks noChangeArrowheads="1"/>
          </p:cNvSpPr>
          <p:nvPr/>
        </p:nvSpPr>
        <p:spPr bwMode="auto">
          <a:xfrm>
            <a:off x="2011949" y="2991983"/>
            <a:ext cx="1504544" cy="471204"/>
          </a:xfrm>
          <a:prstGeom prst="roundRect">
            <a:avLst>
              <a:gd name="adj" fmla="val 24579"/>
            </a:avLst>
          </a:prstGeom>
          <a:ln>
            <a:headEnd/>
            <a:tailEnd/>
          </a:ln>
        </p:spPr>
        <p:style>
          <a:lnRef idx="1">
            <a:schemeClr val="accent3"/>
          </a:lnRef>
          <a:fillRef idx="2">
            <a:schemeClr val="accent3"/>
          </a:fillRef>
          <a:effectRef idx="1">
            <a:schemeClr val="accent3"/>
          </a:effectRef>
          <a:fontRef idx="minor">
            <a:schemeClr val="dk1"/>
          </a:fontRef>
        </p:style>
        <p:txBody>
          <a:bodyPr wrap="none" lIns="61913" tIns="30956" rIns="61913" bIns="30956" anchor="ctr"/>
          <a:lstStyle/>
          <a:p>
            <a:pPr defTabSz="554831"/>
            <a:r>
              <a:rPr lang="en-GB" sz="1350" b="1"/>
              <a:t>Auto-Allocation*</a:t>
            </a:r>
          </a:p>
        </p:txBody>
      </p:sp>
      <p:sp>
        <p:nvSpPr>
          <p:cNvPr id="25" name="Line 17"/>
          <p:cNvSpPr>
            <a:spLocks noChangeShapeType="1"/>
          </p:cNvSpPr>
          <p:nvPr/>
        </p:nvSpPr>
        <p:spPr bwMode="auto">
          <a:xfrm>
            <a:off x="1597139" y="4353492"/>
            <a:ext cx="874798"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26" name="Line 18"/>
          <p:cNvSpPr>
            <a:spLocks noChangeShapeType="1"/>
          </p:cNvSpPr>
          <p:nvPr/>
        </p:nvSpPr>
        <p:spPr bwMode="auto">
          <a:xfrm>
            <a:off x="3230369" y="4353492"/>
            <a:ext cx="699566"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27" name="Line 19"/>
          <p:cNvSpPr>
            <a:spLocks noChangeShapeType="1"/>
          </p:cNvSpPr>
          <p:nvPr/>
        </p:nvSpPr>
        <p:spPr bwMode="auto">
          <a:xfrm>
            <a:off x="4688366" y="4373083"/>
            <a:ext cx="699564"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28" name="Line 20"/>
          <p:cNvSpPr>
            <a:spLocks noChangeShapeType="1"/>
          </p:cNvSpPr>
          <p:nvPr/>
        </p:nvSpPr>
        <p:spPr bwMode="auto">
          <a:xfrm>
            <a:off x="6146365" y="4373083"/>
            <a:ext cx="642067"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29" name="Rectangle 21"/>
          <p:cNvSpPr>
            <a:spLocks noChangeArrowheads="1"/>
          </p:cNvSpPr>
          <p:nvPr/>
        </p:nvSpPr>
        <p:spPr bwMode="auto">
          <a:xfrm>
            <a:off x="3295168" y="4358025"/>
            <a:ext cx="554640"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a:solidFill>
                  <a:schemeClr val="bg1"/>
                </a:solidFill>
              </a:rPr>
              <a:t>Release</a:t>
            </a:r>
          </a:p>
        </p:txBody>
      </p:sp>
      <p:sp>
        <p:nvSpPr>
          <p:cNvPr id="30" name="Rectangle 22"/>
          <p:cNvSpPr>
            <a:spLocks noChangeArrowheads="1"/>
          </p:cNvSpPr>
          <p:nvPr/>
        </p:nvSpPr>
        <p:spPr bwMode="auto">
          <a:xfrm>
            <a:off x="3243263" y="5044442"/>
            <a:ext cx="686086"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err="1">
                <a:solidFill>
                  <a:schemeClr val="bg1"/>
                </a:solidFill>
              </a:rPr>
              <a:t>Unrelease</a:t>
            </a:r>
            <a:endParaRPr lang="en-GB" sz="1050" b="1" i="1" dirty="0">
              <a:solidFill>
                <a:schemeClr val="bg1"/>
              </a:solidFill>
            </a:endParaRPr>
          </a:p>
        </p:txBody>
      </p:sp>
      <p:sp>
        <p:nvSpPr>
          <p:cNvPr id="31" name="Rectangle 23"/>
          <p:cNvSpPr>
            <a:spLocks noChangeArrowheads="1"/>
          </p:cNvSpPr>
          <p:nvPr/>
        </p:nvSpPr>
        <p:spPr bwMode="auto">
          <a:xfrm>
            <a:off x="1818920" y="5044442"/>
            <a:ext cx="492123"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a:solidFill>
                  <a:schemeClr val="bg1"/>
                </a:solidFill>
              </a:rPr>
              <a:t>Cancel</a:t>
            </a:r>
          </a:p>
        </p:txBody>
      </p:sp>
      <p:sp>
        <p:nvSpPr>
          <p:cNvPr id="32" name="Rectangle 24"/>
          <p:cNvSpPr>
            <a:spLocks noChangeArrowheads="1"/>
          </p:cNvSpPr>
          <p:nvPr/>
        </p:nvSpPr>
        <p:spPr bwMode="auto">
          <a:xfrm>
            <a:off x="1818920" y="4358025"/>
            <a:ext cx="421591"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a:solidFill>
                  <a:schemeClr val="bg1"/>
                </a:solidFill>
              </a:rPr>
              <a:t>Enter</a:t>
            </a:r>
          </a:p>
        </p:txBody>
      </p:sp>
      <p:sp>
        <p:nvSpPr>
          <p:cNvPr id="33" name="Rectangle 25"/>
          <p:cNvSpPr>
            <a:spLocks noChangeArrowheads="1"/>
          </p:cNvSpPr>
          <p:nvPr/>
        </p:nvSpPr>
        <p:spPr bwMode="auto">
          <a:xfrm>
            <a:off x="4742148" y="4379882"/>
            <a:ext cx="495329"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a:solidFill>
                  <a:schemeClr val="bg1"/>
                </a:solidFill>
              </a:rPr>
              <a:t>Certify</a:t>
            </a:r>
          </a:p>
        </p:txBody>
      </p:sp>
      <p:sp>
        <p:nvSpPr>
          <p:cNvPr id="34" name="Rectangle 26"/>
          <p:cNvSpPr>
            <a:spLocks noChangeArrowheads="1"/>
          </p:cNvSpPr>
          <p:nvPr/>
        </p:nvSpPr>
        <p:spPr bwMode="auto">
          <a:xfrm>
            <a:off x="6246627" y="4379882"/>
            <a:ext cx="418385" cy="224099"/>
          </a:xfrm>
          <a:prstGeom prst="rect">
            <a:avLst/>
          </a:prstGeom>
          <a:noFill/>
          <a:ln w="9525">
            <a:noFill/>
            <a:miter lim="800000"/>
            <a:headEnd/>
            <a:tailEnd/>
          </a:ln>
          <a:effectLst/>
        </p:spPr>
        <p:txBody>
          <a:bodyPr wrap="none" lIns="61913" tIns="30956" rIns="61913" bIns="30956">
            <a:spAutoFit/>
          </a:bodyPr>
          <a:lstStyle/>
          <a:p>
            <a:pPr defTabSz="554831"/>
            <a:r>
              <a:rPr lang="en-GB" sz="1050" b="1" i="1" dirty="0">
                <a:solidFill>
                  <a:schemeClr val="bg1"/>
                </a:solidFill>
              </a:rPr>
              <a:t>Close</a:t>
            </a:r>
          </a:p>
        </p:txBody>
      </p:sp>
      <p:sp>
        <p:nvSpPr>
          <p:cNvPr id="35" name="Line 27"/>
          <p:cNvSpPr>
            <a:spLocks noChangeShapeType="1"/>
          </p:cNvSpPr>
          <p:nvPr/>
        </p:nvSpPr>
        <p:spPr bwMode="auto">
          <a:xfrm flipH="1">
            <a:off x="1597139" y="5037644"/>
            <a:ext cx="874798"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36" name="Line 28"/>
          <p:cNvSpPr>
            <a:spLocks noChangeShapeType="1"/>
          </p:cNvSpPr>
          <p:nvPr/>
        </p:nvSpPr>
        <p:spPr bwMode="auto">
          <a:xfrm flipH="1">
            <a:off x="3230369" y="5037644"/>
            <a:ext cx="699566" cy="0"/>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37" name="Line 30"/>
          <p:cNvSpPr>
            <a:spLocks noChangeShapeType="1"/>
          </p:cNvSpPr>
          <p:nvPr/>
        </p:nvSpPr>
        <p:spPr bwMode="auto">
          <a:xfrm>
            <a:off x="3609586" y="2788097"/>
            <a:ext cx="0" cy="1565396"/>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38" name="Line 31"/>
          <p:cNvSpPr>
            <a:spLocks noChangeShapeType="1"/>
          </p:cNvSpPr>
          <p:nvPr/>
        </p:nvSpPr>
        <p:spPr bwMode="auto">
          <a:xfrm>
            <a:off x="1888738" y="2788097"/>
            <a:ext cx="0" cy="1565396"/>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39" name="Line 32"/>
          <p:cNvSpPr>
            <a:spLocks noChangeShapeType="1"/>
          </p:cNvSpPr>
          <p:nvPr/>
        </p:nvSpPr>
        <p:spPr bwMode="auto">
          <a:xfrm>
            <a:off x="2121470" y="3472249"/>
            <a:ext cx="0" cy="881243"/>
          </a:xfrm>
          <a:prstGeom prst="line">
            <a:avLst/>
          </a:prstGeom>
          <a:noFill/>
          <a:ln w="12700">
            <a:solidFill>
              <a:schemeClr val="tx1"/>
            </a:solidFill>
            <a:round/>
            <a:headEnd type="none" w="sm" len="sm"/>
            <a:tailEnd type="stealth" w="med" len="lg"/>
          </a:ln>
          <a:effectLst/>
        </p:spPr>
        <p:txBody>
          <a:bodyPr/>
          <a:lstStyle/>
          <a:p>
            <a:endParaRPr lang="en-US" sz="1350" b="1"/>
          </a:p>
        </p:txBody>
      </p:sp>
      <p:sp>
        <p:nvSpPr>
          <p:cNvPr id="42" name="Rectangle 23"/>
          <p:cNvSpPr>
            <a:spLocks noChangeArrowheads="1"/>
          </p:cNvSpPr>
          <p:nvPr/>
        </p:nvSpPr>
        <p:spPr bwMode="auto">
          <a:xfrm>
            <a:off x="4800601" y="5074920"/>
            <a:ext cx="501741" cy="385682"/>
          </a:xfrm>
          <a:prstGeom prst="rect">
            <a:avLst/>
          </a:prstGeom>
          <a:noFill/>
          <a:ln w="9525">
            <a:noFill/>
            <a:miter lim="800000"/>
            <a:headEnd/>
            <a:tailEnd/>
          </a:ln>
          <a:effectLst/>
        </p:spPr>
        <p:txBody>
          <a:bodyPr wrap="none" lIns="61913" tIns="30956" rIns="61913" bIns="30956">
            <a:spAutoFit/>
          </a:bodyPr>
          <a:lstStyle/>
          <a:p>
            <a:pPr defTabSz="554831"/>
            <a:r>
              <a:rPr lang="id-ID" sz="1050" b="1" i="1" dirty="0">
                <a:solidFill>
                  <a:schemeClr val="bg1"/>
                </a:solidFill>
              </a:rPr>
              <a:t>Revert</a:t>
            </a:r>
          </a:p>
          <a:p>
            <a:pPr defTabSz="554831"/>
            <a:r>
              <a:rPr lang="id-ID" sz="1050" b="1" i="1" dirty="0">
                <a:solidFill>
                  <a:schemeClr val="bg1"/>
                </a:solidFill>
              </a:rPr>
              <a:t>to WIP</a:t>
            </a:r>
            <a:endParaRPr lang="en-GB" sz="1050" b="1" i="1" dirty="0">
              <a:solidFill>
                <a:schemeClr val="bg1"/>
              </a:solidFill>
            </a:endParaRPr>
          </a:p>
        </p:txBody>
      </p:sp>
      <p:sp>
        <p:nvSpPr>
          <p:cNvPr id="43" name="Line 27"/>
          <p:cNvSpPr>
            <a:spLocks noChangeShapeType="1"/>
          </p:cNvSpPr>
          <p:nvPr/>
        </p:nvSpPr>
        <p:spPr bwMode="auto">
          <a:xfrm flipH="1">
            <a:off x="4647400" y="5068124"/>
            <a:ext cx="736130" cy="0"/>
          </a:xfrm>
          <a:prstGeom prst="line">
            <a:avLst/>
          </a:prstGeom>
          <a:noFill/>
          <a:ln w="12700">
            <a:solidFill>
              <a:schemeClr val="tx1"/>
            </a:solidFill>
            <a:round/>
            <a:headEnd type="none" w="sm" len="sm"/>
            <a:tailEnd type="stealth" w="med" len="lg"/>
          </a:ln>
          <a:effectLst/>
        </p:spPr>
        <p:txBody>
          <a:bodyPr/>
          <a:lstStyle/>
          <a:p>
            <a:endParaRPr lang="en-US" sz="1350" b="1"/>
          </a:p>
        </p:txBody>
      </p:sp>
    </p:spTree>
    <p:extLst>
      <p:ext uri="{BB962C8B-B14F-4D97-AF65-F5344CB8AC3E}">
        <p14:creationId xmlns:p14="http://schemas.microsoft.com/office/powerpoint/2010/main" xmlns="" val="73653272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43000" y="584200"/>
            <a:ext cx="6553200" cy="5817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849773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19200" y="584200"/>
            <a:ext cx="6817372"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451384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0999"/>
            <a:ext cx="8229600" cy="1036639"/>
          </a:xfrm>
        </p:spPr>
        <p:txBody>
          <a:bodyPr/>
          <a:lstStyle/>
          <a:p>
            <a:r>
              <a:rPr lang="id-ID" b="1" dirty="0" smtClean="0"/>
              <a:t>AGENDA</a:t>
            </a:r>
            <a:endParaRPr lang="id-ID" b="1" dirty="0"/>
          </a:p>
        </p:txBody>
      </p:sp>
      <p:graphicFrame>
        <p:nvGraphicFramePr>
          <p:cNvPr id="10" name="Table 9"/>
          <p:cNvGraphicFramePr>
            <a:graphicFrameLocks noGrp="1"/>
          </p:cNvGraphicFramePr>
          <p:nvPr>
            <p:extLst>
              <p:ext uri="{D42A27DB-BD31-4B8C-83A1-F6EECF244321}">
                <p14:modId xmlns:p14="http://schemas.microsoft.com/office/powerpoint/2010/main" xmlns="" val="608932727"/>
              </p:ext>
            </p:extLst>
          </p:nvPr>
        </p:nvGraphicFramePr>
        <p:xfrm>
          <a:off x="2895600" y="2514600"/>
          <a:ext cx="4495800" cy="1600200"/>
        </p:xfrm>
        <a:graphic>
          <a:graphicData uri="http://schemas.openxmlformats.org/drawingml/2006/table">
            <a:tbl>
              <a:tblPr bandRow="1">
                <a:tableStyleId>{C083E6E3-FA7D-4D7B-A595-EF9225AFEA82}</a:tableStyleId>
              </a:tblPr>
              <a:tblGrid>
                <a:gridCol w="4495800"/>
              </a:tblGrid>
              <a:tr h="528320">
                <a:tc>
                  <a:txBody>
                    <a:bodyPr/>
                    <a:lstStyle/>
                    <a:p>
                      <a:pPr marL="0" indent="0">
                        <a:buFont typeface="+mj-lt"/>
                        <a:buNone/>
                      </a:pPr>
                      <a:r>
                        <a:rPr lang="id-ID" sz="2700" dirty="0" smtClean="0">
                          <a:solidFill>
                            <a:schemeClr val="bg1">
                              <a:lumMod val="95000"/>
                            </a:schemeClr>
                          </a:solidFill>
                        </a:rPr>
                        <a:t>1. Product </a:t>
                      </a:r>
                      <a:r>
                        <a:rPr lang="id-ID" sz="2700" dirty="0" smtClean="0">
                          <a:solidFill>
                            <a:schemeClr val="bg1">
                              <a:lumMod val="95000"/>
                            </a:schemeClr>
                          </a:solidFill>
                        </a:rPr>
                        <a:t>Developmen</a:t>
                      </a:r>
                      <a:r>
                        <a:rPr lang="en-US" sz="2700" dirty="0" smtClean="0">
                          <a:solidFill>
                            <a:schemeClr val="bg1">
                              <a:lumMod val="95000"/>
                            </a:schemeClr>
                          </a:solidFill>
                        </a:rPr>
                        <a:t>t</a:t>
                      </a:r>
                      <a:endParaRPr lang="id-ID" sz="2700" dirty="0">
                        <a:solidFill>
                          <a:schemeClr val="bg1">
                            <a:lumMod val="95000"/>
                          </a:schemeClr>
                        </a:solidFill>
                      </a:endParaRPr>
                    </a:p>
                  </a:txBody>
                  <a:tcPr marT="60960" marB="60960"/>
                </a:tc>
              </a:tr>
              <a:tr h="528320">
                <a:tc>
                  <a:txBody>
                    <a:bodyPr/>
                    <a:lstStyle/>
                    <a:p>
                      <a:pPr marL="0" indent="0">
                        <a:buFont typeface="+mj-lt"/>
                        <a:buNone/>
                      </a:pPr>
                      <a:r>
                        <a:rPr lang="id-ID" sz="2700" dirty="0" smtClean="0">
                          <a:solidFill>
                            <a:schemeClr val="bg1"/>
                          </a:solidFill>
                        </a:rPr>
                        <a:t>2. </a:t>
                      </a:r>
                      <a:r>
                        <a:rPr lang="en-US" sz="2700" dirty="0" smtClean="0">
                          <a:solidFill>
                            <a:schemeClr val="bg1"/>
                          </a:solidFill>
                        </a:rPr>
                        <a:t>Process Execution</a:t>
                      </a:r>
                      <a:endParaRPr lang="id-ID" sz="2700" dirty="0">
                        <a:solidFill>
                          <a:schemeClr val="bg1"/>
                        </a:solidFill>
                      </a:endParaRPr>
                    </a:p>
                  </a:txBody>
                  <a:tcPr marT="60960" marB="60960"/>
                </a:tc>
              </a:tr>
              <a:tr h="528320">
                <a:tc>
                  <a:txBody>
                    <a:bodyPr/>
                    <a:lstStyle/>
                    <a:p>
                      <a:pPr marL="0" indent="0">
                        <a:buFont typeface="+mj-lt"/>
                        <a:buNone/>
                      </a:pPr>
                      <a:r>
                        <a:rPr lang="id-ID" sz="2700" dirty="0" smtClean="0">
                          <a:solidFill>
                            <a:schemeClr val="tx1"/>
                          </a:solidFill>
                        </a:rPr>
                        <a:t>3. </a:t>
                      </a:r>
                      <a:r>
                        <a:rPr lang="en-US" sz="2700" dirty="0" smtClean="0">
                          <a:solidFill>
                            <a:schemeClr val="tx1"/>
                          </a:solidFill>
                        </a:rPr>
                        <a:t>Costing</a:t>
                      </a:r>
                      <a:endParaRPr lang="id-ID" sz="2700" dirty="0">
                        <a:solidFill>
                          <a:schemeClr val="tx1"/>
                        </a:solidFill>
                      </a:endParaRPr>
                    </a:p>
                  </a:txBody>
                  <a:tcPr marT="60960" marB="60960"/>
                </a:tc>
              </a:tr>
            </a:tbl>
          </a:graphicData>
        </a:graphic>
      </p:graphicFrame>
    </p:spTree>
    <p:extLst>
      <p:ext uri="{BB962C8B-B14F-4D97-AF65-F5344CB8AC3E}">
        <p14:creationId xmlns:p14="http://schemas.microsoft.com/office/powerpoint/2010/main" xmlns="" val="794191769"/>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584201"/>
            <a:ext cx="6705600" cy="57686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5822100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id-ID" dirty="0" smtClean="0"/>
              <a:t>Reviewing Costing Setup</a:t>
            </a:r>
            <a:endParaRPr lang="en-US" b="0" dirty="0" smtClean="0"/>
          </a:p>
        </p:txBody>
      </p:sp>
      <p:graphicFrame>
        <p:nvGraphicFramePr>
          <p:cNvPr id="22" name="Diagram 21"/>
          <p:cNvGraphicFramePr/>
          <p:nvPr>
            <p:extLst>
              <p:ext uri="{D42A27DB-BD31-4B8C-83A1-F6EECF244321}">
                <p14:modId xmlns:p14="http://schemas.microsoft.com/office/powerpoint/2010/main" xmlns="" val="442681301"/>
              </p:ext>
            </p:extLst>
          </p:nvPr>
        </p:nvGraphicFramePr>
        <p:xfrm>
          <a:off x="838200" y="1549400"/>
          <a:ext cx="7486650" cy="340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p:cNvSpPr txBox="1"/>
          <p:nvPr/>
        </p:nvSpPr>
        <p:spPr>
          <a:xfrm>
            <a:off x="2495598" y="5257800"/>
            <a:ext cx="4152804" cy="369332"/>
          </a:xfrm>
          <a:prstGeom prst="rect">
            <a:avLst/>
          </a:prstGeom>
          <a:noFill/>
        </p:spPr>
        <p:txBody>
          <a:bodyPr wrap="none" rtlCol="0">
            <a:spAutoFit/>
          </a:bodyPr>
          <a:lstStyle/>
          <a:p>
            <a:r>
              <a:rPr lang="id-ID" dirty="0" smtClean="0"/>
              <a:t>Step 3. and Step 6. are optional setup step</a:t>
            </a:r>
            <a:endParaRPr lang="en-US" dirty="0"/>
          </a:p>
        </p:txBody>
      </p:sp>
    </p:spTree>
    <p:extLst>
      <p:ext uri="{BB962C8B-B14F-4D97-AF65-F5344CB8AC3E}">
        <p14:creationId xmlns:p14="http://schemas.microsoft.com/office/powerpoint/2010/main" xmlns="" val="74786286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2000" y="569511"/>
            <a:ext cx="7668815"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88812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584200"/>
            <a:ext cx="6248401" cy="57101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52785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95400" y="584200"/>
            <a:ext cx="6593912"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37598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19201" y="584200"/>
            <a:ext cx="6802915"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07009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584200"/>
            <a:ext cx="7302341"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92542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95400" y="584200"/>
            <a:ext cx="6324600" cy="5801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72790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584199"/>
            <a:ext cx="7010400" cy="57437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76513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584200"/>
            <a:ext cx="6842470" cy="579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25953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19200" y="584200"/>
            <a:ext cx="6553200" cy="57524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18371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www.psychologytoday.com/files/u693/Thank_you_small.jpg"/>
          <p:cNvPicPr>
            <a:picLocks noChangeAspect="1" noChangeArrowheads="1"/>
          </p:cNvPicPr>
          <p:nvPr/>
        </p:nvPicPr>
        <p:blipFill>
          <a:blip r:embed="rId2"/>
          <a:srcRect/>
          <a:stretch>
            <a:fillRect/>
          </a:stretch>
        </p:blipFill>
        <p:spPr bwMode="auto">
          <a:xfrm>
            <a:off x="3517933" y="526668"/>
            <a:ext cx="5143500" cy="5892800"/>
          </a:xfrm>
          <a:prstGeom prst="rect">
            <a:avLst/>
          </a:prstGeom>
          <a:noFill/>
          <a:ln w="9525">
            <a:noFill/>
            <a:miter lim="800000"/>
            <a:headEnd/>
            <a:tailEnd/>
          </a:ln>
        </p:spPr>
      </p:pic>
    </p:spTree>
    <p:extLst>
      <p:ext uri="{BB962C8B-B14F-4D97-AF65-F5344CB8AC3E}">
        <p14:creationId xmlns:p14="http://schemas.microsoft.com/office/powerpoint/2010/main" xmlns="" val="61048257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498</TotalTime>
  <Words>349</Words>
  <Application>Microsoft Office PowerPoint</Application>
  <PresentationFormat>On-screen Show (4:3)</PresentationFormat>
  <Paragraphs>97</Paragraphs>
  <Slides>33</Slides>
  <Notes>1</Notes>
  <HiddenSlides>0</HiddenSlides>
  <MMClips>0</MMClips>
  <ScaleCrop>false</ScaleCrop>
  <HeadingPairs>
    <vt:vector size="6" baseType="variant">
      <vt:variant>
        <vt:lpstr>Theme</vt:lpstr>
      </vt:variant>
      <vt:variant>
        <vt:i4>1</vt:i4>
      </vt:variant>
      <vt:variant>
        <vt:lpstr>Embedded OLE Servers</vt:lpstr>
      </vt:variant>
      <vt:variant>
        <vt:i4>0</vt:i4>
      </vt:variant>
      <vt:variant>
        <vt:lpstr>Slide Titles</vt:lpstr>
      </vt:variant>
      <vt:variant>
        <vt:i4>33</vt:i4>
      </vt:variant>
    </vt:vector>
  </HeadingPairs>
  <TitlesOfParts>
    <vt:vector size="34" baseType="lpstr">
      <vt:lpstr>Office Theme</vt:lpstr>
      <vt:lpstr>OPM Workshop</vt:lpstr>
      <vt:lpstr>AGENDA</vt:lpstr>
      <vt:lpstr>AGENDA</vt:lpstr>
      <vt:lpstr>Process Manufacturing Flow</vt:lpstr>
      <vt:lpstr>Slide 5</vt:lpstr>
      <vt:lpstr>Formula : Product</vt:lpstr>
      <vt:lpstr>Formula : By-Product</vt:lpstr>
      <vt:lpstr>Formula : Ingredients</vt:lpstr>
      <vt:lpstr>Process Routing Transformation Step to Make Product</vt:lpstr>
      <vt:lpstr>Routing</vt:lpstr>
      <vt:lpstr>Operations</vt:lpstr>
      <vt:lpstr>Activities</vt:lpstr>
      <vt:lpstr>Resource (Generic)</vt:lpstr>
      <vt:lpstr>Resource (Plant)</vt:lpstr>
      <vt:lpstr>AGENDA</vt:lpstr>
      <vt:lpstr>Slide 16</vt:lpstr>
      <vt:lpstr>Slide 17</vt:lpstr>
      <vt:lpstr>Production Batch Life Cycle</vt:lpstr>
      <vt:lpstr>Slide 19</vt:lpstr>
      <vt:lpstr>Slide 20</vt:lpstr>
      <vt:lpstr>AGENDA</vt:lpstr>
      <vt:lpstr>Slide 22</vt:lpstr>
      <vt:lpstr>Reviewing Costing Setup</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OPM Workshop</dc:title>
  <dc:creator>x</dc:creator>
  <cp:lastModifiedBy>x</cp:lastModifiedBy>
  <cp:revision>3</cp:revision>
  <dcterms:created xsi:type="dcterms:W3CDTF">2017-11-20T02:25:58Z</dcterms:created>
  <dcterms:modified xsi:type="dcterms:W3CDTF">2017-11-20T10:44:00Z</dcterms:modified>
</cp:coreProperties>
</file>