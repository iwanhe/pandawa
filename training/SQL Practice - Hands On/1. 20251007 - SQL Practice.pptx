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F187-03E8-4A28-8B8C-818D619B693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4978-BC6F-48A4-B1CF-72AC4E3C8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7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F187-03E8-4A28-8B8C-818D619B693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4978-BC6F-48A4-B1CF-72AC4E3C8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16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F187-03E8-4A28-8B8C-818D619B693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4978-BC6F-48A4-B1CF-72AC4E3C8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58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F187-03E8-4A28-8B8C-818D619B693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4978-BC6F-48A4-B1CF-72AC4E3C8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67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F187-03E8-4A28-8B8C-818D619B693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4978-BC6F-48A4-B1CF-72AC4E3C8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18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F187-03E8-4A28-8B8C-818D619B693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4978-BC6F-48A4-B1CF-72AC4E3C8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34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F187-03E8-4A28-8B8C-818D619B693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4978-BC6F-48A4-B1CF-72AC4E3C8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27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F187-03E8-4A28-8B8C-818D619B693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4978-BC6F-48A4-B1CF-72AC4E3C8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26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F187-03E8-4A28-8B8C-818D619B693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4978-BC6F-48A4-B1CF-72AC4E3C8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50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F187-03E8-4A28-8B8C-818D619B693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4978-BC6F-48A4-B1CF-72AC4E3C8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339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F187-03E8-4A28-8B8C-818D619B693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4978-BC6F-48A4-B1CF-72AC4E3C8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69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A7067ACA-0EAC-47E0-981D-D3B459FBB94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497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2F187-03E8-4A28-8B8C-818D619B693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24978-BC6F-48A4-B1CF-72AC4E3C8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49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anchor="ctr"/>
          <a:lstStyle/>
          <a:p>
            <a:r>
              <a:rPr lang="en-US" altLang="en-US" sz="4400"/>
              <a:t>SQL Practice</a:t>
            </a:r>
          </a:p>
        </p:txBody>
      </p:sp>
    </p:spTree>
    <p:extLst>
      <p:ext uri="{BB962C8B-B14F-4D97-AF65-F5344CB8AC3E}">
        <p14:creationId xmlns:p14="http://schemas.microsoft.com/office/powerpoint/2010/main" val="2874384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1295401"/>
            <a:ext cx="8229600" cy="3763963"/>
          </a:xfrm>
        </p:spPr>
        <p:txBody>
          <a:bodyPr/>
          <a:lstStyle/>
          <a:p>
            <a:r>
              <a:rPr lang="en-US" altLang="en-US"/>
              <a:t>Step 1 :</a:t>
            </a:r>
            <a:br>
              <a:rPr lang="en-US" altLang="en-US"/>
            </a:br>
            <a:r>
              <a:rPr lang="en-US" altLang="en-US"/>
              <a:t>Create and Insert Data to Table</a:t>
            </a:r>
          </a:p>
        </p:txBody>
      </p:sp>
    </p:spTree>
    <p:extLst>
      <p:ext uri="{BB962C8B-B14F-4D97-AF65-F5344CB8AC3E}">
        <p14:creationId xmlns:p14="http://schemas.microsoft.com/office/powerpoint/2010/main" val="3881756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Countries Table</a:t>
            </a:r>
          </a:p>
        </p:txBody>
      </p:sp>
      <p:graphicFrame>
        <p:nvGraphicFramePr>
          <p:cNvPr id="3107" name="Group 35"/>
          <p:cNvGraphicFramePr>
            <a:graphicFrameLocks noGrp="1"/>
          </p:cNvGraphicFramePr>
          <p:nvPr>
            <p:ph idx="1"/>
          </p:nvPr>
        </p:nvGraphicFramePr>
        <p:xfrm>
          <a:off x="1981200" y="2057400"/>
          <a:ext cx="8229600" cy="24231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Null?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Country_ID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 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Char ( 2 )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Country_Name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Varchar2(240)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Region_ID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08" name="Rectangle 36"/>
          <p:cNvSpPr>
            <a:spLocks noChangeArrowheads="1"/>
          </p:cNvSpPr>
          <p:nvPr/>
        </p:nvSpPr>
        <p:spPr bwMode="auto">
          <a:xfrm>
            <a:off x="1905000" y="1600201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chemeClr val="tx2"/>
                </a:solidFill>
              </a:rPr>
              <a:t>Countries</a:t>
            </a:r>
          </a:p>
        </p:txBody>
      </p:sp>
    </p:spTree>
    <p:extLst>
      <p:ext uri="{BB962C8B-B14F-4D97-AF65-F5344CB8AC3E}">
        <p14:creationId xmlns:p14="http://schemas.microsoft.com/office/powerpoint/2010/main" val="407652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Country Data</a:t>
            </a:r>
          </a:p>
        </p:txBody>
      </p:sp>
      <p:graphicFrame>
        <p:nvGraphicFramePr>
          <p:cNvPr id="6186" name="Group 42"/>
          <p:cNvGraphicFramePr>
            <a:graphicFrameLocks noGrp="1"/>
          </p:cNvGraphicFramePr>
          <p:nvPr>
            <p:ph idx="1"/>
          </p:nvPr>
        </p:nvGraphicFramePr>
        <p:xfrm>
          <a:off x="1905000" y="2057400"/>
          <a:ext cx="8458200" cy="2697480"/>
        </p:xfrm>
        <a:graphic>
          <a:graphicData uri="http://schemas.openxmlformats.org/drawingml/2006/table">
            <a:tbl>
              <a:tblPr/>
              <a:tblGrid>
                <a:gridCol w="2209800"/>
                <a:gridCol w="4267200"/>
                <a:gridCol w="1981200"/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Country_ID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Country_Name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Region_ID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Canada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Germany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United Kingdom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United States of America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426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altLang="en-US"/>
              <a:t>DEPARTMENTS TABLE</a:t>
            </a:r>
          </a:p>
        </p:txBody>
      </p:sp>
      <p:graphicFrame>
        <p:nvGraphicFramePr>
          <p:cNvPr id="9252" name="Group 36"/>
          <p:cNvGraphicFramePr>
            <a:graphicFrameLocks noGrp="1"/>
          </p:cNvGraphicFramePr>
          <p:nvPr>
            <p:ph idx="1"/>
          </p:nvPr>
        </p:nvGraphicFramePr>
        <p:xfrm>
          <a:off x="1752600" y="1600201"/>
          <a:ext cx="8458200" cy="5029201"/>
        </p:xfrm>
        <a:graphic>
          <a:graphicData uri="http://schemas.openxmlformats.org/drawingml/2006/table">
            <a:tbl>
              <a:tblPr/>
              <a:tblGrid>
                <a:gridCol w="3352800"/>
                <a:gridCol w="2362200"/>
                <a:gridCol w="2743200"/>
              </a:tblGrid>
              <a:tr h="1169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Null?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55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Department_ID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 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8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Department_Name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 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Varchar2(30)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82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Manager_ID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82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Location_ID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53" name="Rectangle 37"/>
          <p:cNvSpPr>
            <a:spLocks noChangeArrowheads="1"/>
          </p:cNvSpPr>
          <p:nvPr/>
        </p:nvSpPr>
        <p:spPr bwMode="auto">
          <a:xfrm>
            <a:off x="1752600" y="1143000"/>
            <a:ext cx="15845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tx2"/>
                </a:solidFill>
              </a:rPr>
              <a:t>DEPARTMENTS</a:t>
            </a:r>
          </a:p>
        </p:txBody>
      </p:sp>
    </p:spTree>
    <p:extLst>
      <p:ext uri="{BB962C8B-B14F-4D97-AF65-F5344CB8AC3E}">
        <p14:creationId xmlns:p14="http://schemas.microsoft.com/office/powerpoint/2010/main" val="3932238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Department Data</a:t>
            </a:r>
          </a:p>
        </p:txBody>
      </p:sp>
      <p:graphicFrame>
        <p:nvGraphicFramePr>
          <p:cNvPr id="11378" name="Group 114"/>
          <p:cNvGraphicFramePr>
            <a:graphicFrameLocks noGrp="1"/>
          </p:cNvGraphicFramePr>
          <p:nvPr>
            <p:ph idx="1"/>
          </p:nvPr>
        </p:nvGraphicFramePr>
        <p:xfrm>
          <a:off x="1649414" y="1600200"/>
          <a:ext cx="8866187" cy="4582288"/>
        </p:xfrm>
        <a:graphic>
          <a:graphicData uri="http://schemas.openxmlformats.org/drawingml/2006/table">
            <a:tbl>
              <a:tblPr/>
              <a:tblGrid>
                <a:gridCol w="2541587"/>
                <a:gridCol w="2217738"/>
                <a:gridCol w="2166937"/>
                <a:gridCol w="1939925"/>
              </a:tblGrid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Department_ID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Department_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Manager_ID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Location_ID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Administration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Marketing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Shipping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Sales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Executive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8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Accounting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Contracting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395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0"/>
            <a:ext cx="8229600" cy="838200"/>
          </a:xfrm>
        </p:spPr>
        <p:txBody>
          <a:bodyPr/>
          <a:lstStyle/>
          <a:p>
            <a:r>
              <a:rPr lang="en-US" altLang="en-US"/>
              <a:t>Employees Table</a:t>
            </a:r>
          </a:p>
        </p:txBody>
      </p:sp>
      <p:graphicFrame>
        <p:nvGraphicFramePr>
          <p:cNvPr id="14445" name="Group 109"/>
          <p:cNvGraphicFramePr>
            <a:graphicFrameLocks noGrp="1"/>
          </p:cNvGraphicFramePr>
          <p:nvPr>
            <p:ph idx="1"/>
          </p:nvPr>
        </p:nvGraphicFramePr>
        <p:xfrm>
          <a:off x="1981200" y="914400"/>
          <a:ext cx="8229600" cy="5656264"/>
        </p:xfrm>
        <a:graphic>
          <a:graphicData uri="http://schemas.openxmlformats.org/drawingml/2006/table">
            <a:tbl>
              <a:tblPr/>
              <a:tblGrid>
                <a:gridCol w="3262313"/>
                <a:gridCol w="2298700"/>
                <a:gridCol w="2668587"/>
              </a:tblGrid>
              <a:tr h="573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Null?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5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Employee_ID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 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First_Name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Varchar2(20)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0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Last_Name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 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Varchar2(25)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5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Email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 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Varchar2(25)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6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Phone_Number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Varchar2(25)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6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Job_ID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 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Varchar2(10)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6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Hire_Date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 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6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Salary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Commission_pct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Manager_ID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Department_ID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446" name="Rectangle 110"/>
          <p:cNvSpPr>
            <a:spLocks noChangeArrowheads="1"/>
          </p:cNvSpPr>
          <p:nvPr/>
        </p:nvSpPr>
        <p:spPr bwMode="auto">
          <a:xfrm>
            <a:off x="1981201" y="533400"/>
            <a:ext cx="119853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tx2"/>
                </a:solidFill>
              </a:rPr>
              <a:t>Employees</a:t>
            </a:r>
          </a:p>
        </p:txBody>
      </p:sp>
    </p:spTree>
    <p:extLst>
      <p:ext uri="{BB962C8B-B14F-4D97-AF65-F5344CB8AC3E}">
        <p14:creationId xmlns:p14="http://schemas.microsoft.com/office/powerpoint/2010/main" val="2145859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Employee Data</a:t>
            </a:r>
          </a:p>
        </p:txBody>
      </p:sp>
      <p:graphicFrame>
        <p:nvGraphicFramePr>
          <p:cNvPr id="16862" name="Group 478"/>
          <p:cNvGraphicFramePr>
            <a:graphicFrameLocks noGrp="1"/>
          </p:cNvGraphicFramePr>
          <p:nvPr>
            <p:ph idx="1"/>
          </p:nvPr>
        </p:nvGraphicFramePr>
        <p:xfrm>
          <a:off x="1600200" y="1066800"/>
          <a:ext cx="9067800" cy="5608320"/>
        </p:xfrm>
        <a:graphic>
          <a:graphicData uri="http://schemas.openxmlformats.org/drawingml/2006/table">
            <a:tbl>
              <a:tblPr/>
              <a:tblGrid>
                <a:gridCol w="1282700"/>
                <a:gridCol w="1831975"/>
                <a:gridCol w="1582738"/>
                <a:gridCol w="1703387"/>
                <a:gridCol w="1219200"/>
                <a:gridCol w="1447800"/>
              </a:tblGrid>
              <a:tr h="685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Employee_ID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First_Name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Last_Name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Email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Phone_Number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Hire_Date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3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SKING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515.123.4567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17-JUN-1987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3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Neena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Kochtar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NKOCHTAR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515.123.4568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21-SEP-1989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3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 Haan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LDEHAAN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515.123.4569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13-JAN-1993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3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Alexander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Hunold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AHUNOLD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515.123.4567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03-JAN-1990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2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Bruce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Ernst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BERNST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515.123.4568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21-MAY-1991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3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Diana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Lorentz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DLORENTZ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515.123.5567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07-FEB-1999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3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Kevin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Mourgos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KMOURGOS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650.123.5234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16-NOV-1999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863" name="Line 479"/>
          <p:cNvSpPr>
            <a:spLocks noChangeShapeType="1"/>
          </p:cNvSpPr>
          <p:nvPr/>
        </p:nvSpPr>
        <p:spPr bwMode="auto">
          <a:xfrm>
            <a:off x="9829800" y="762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8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685800"/>
          </a:xfrm>
        </p:spPr>
        <p:txBody>
          <a:bodyPr/>
          <a:lstStyle/>
          <a:p>
            <a:r>
              <a:rPr lang="en-US" altLang="en-US" sz="4000"/>
              <a:t>Employee Data ( 2 )</a:t>
            </a:r>
          </a:p>
        </p:txBody>
      </p:sp>
      <p:graphicFrame>
        <p:nvGraphicFramePr>
          <p:cNvPr id="18618" name="Group 186"/>
          <p:cNvGraphicFramePr>
            <a:graphicFrameLocks noGrp="1"/>
          </p:cNvGraphicFramePr>
          <p:nvPr>
            <p:ph idx="1"/>
          </p:nvPr>
        </p:nvGraphicFramePr>
        <p:xfrm>
          <a:off x="1524000" y="1301751"/>
          <a:ext cx="9144000" cy="5207001"/>
        </p:xfrm>
        <a:graphic>
          <a:graphicData uri="http://schemas.openxmlformats.org/drawingml/2006/table">
            <a:tbl>
              <a:tblPr/>
              <a:tblGrid>
                <a:gridCol w="1752600"/>
                <a:gridCol w="1066800"/>
                <a:gridCol w="2286000"/>
                <a:gridCol w="2057400"/>
                <a:gridCol w="1981200"/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Job_ID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Commision_pct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Manager_ID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Department_ID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5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AD_PRES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24000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7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AD_VP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7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AD_VP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7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IT_PROG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5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IT_PROG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7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IT_PROG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7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ST_MAN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5800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617" name="Line 185"/>
          <p:cNvSpPr>
            <a:spLocks noChangeShapeType="1"/>
          </p:cNvSpPr>
          <p:nvPr/>
        </p:nvSpPr>
        <p:spPr bwMode="auto">
          <a:xfrm>
            <a:off x="1524000" y="838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71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762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Employee_Data ( 3 )</a:t>
            </a:r>
          </a:p>
        </p:txBody>
      </p:sp>
      <p:graphicFrame>
        <p:nvGraphicFramePr>
          <p:cNvPr id="20575" name="Group 95"/>
          <p:cNvGraphicFramePr>
            <a:graphicFrameLocks noGrp="1"/>
          </p:cNvGraphicFramePr>
          <p:nvPr>
            <p:ph idx="1"/>
          </p:nvPr>
        </p:nvGraphicFramePr>
        <p:xfrm>
          <a:off x="1676400" y="762001"/>
          <a:ext cx="8839200" cy="5659755"/>
        </p:xfrm>
        <a:graphic>
          <a:graphicData uri="http://schemas.openxmlformats.org/drawingml/2006/table">
            <a:tbl>
              <a:tblPr/>
              <a:tblGrid>
                <a:gridCol w="1249363"/>
                <a:gridCol w="1785937"/>
                <a:gridCol w="1546225"/>
                <a:gridCol w="1209675"/>
                <a:gridCol w="1546225"/>
                <a:gridCol w="1501775"/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Employee_ID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First_Name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Last_Name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Email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Phone_Number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Hire_Date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3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Treana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Rajs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TRAJS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650.121.8009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17-OCT-1995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3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Curtis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Davies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CDAVIES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650.121.2994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29-JAN-1997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3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Randall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Matos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RMATOS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650.121.2874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15-MAR-1998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3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Peter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Vargas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PVARGAS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650.121.2004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09-JUL-1998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2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Eleny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Zlotkey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EZLOTKEY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011.44.1344.429018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29-JAN-2000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2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Ellen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Abel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EABEL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011.44.1644.429267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11-MAY-96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3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Jonathon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Taylor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JTAYLOR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011.44.1644.429265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24-MAR-1998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576" name="Line 96"/>
          <p:cNvSpPr>
            <a:spLocks noChangeShapeType="1"/>
          </p:cNvSpPr>
          <p:nvPr/>
        </p:nvSpPr>
        <p:spPr bwMode="auto">
          <a:xfrm>
            <a:off x="9906000" y="533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0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Employee Data ( 4 )</a:t>
            </a:r>
          </a:p>
        </p:txBody>
      </p:sp>
      <p:graphicFrame>
        <p:nvGraphicFramePr>
          <p:cNvPr id="24641" name="Group 65"/>
          <p:cNvGraphicFramePr>
            <a:graphicFrameLocks noGrp="1"/>
          </p:cNvGraphicFramePr>
          <p:nvPr>
            <p:ph idx="1"/>
          </p:nvPr>
        </p:nvGraphicFramePr>
        <p:xfrm>
          <a:off x="1600200" y="1447801"/>
          <a:ext cx="8610600" cy="4887279"/>
        </p:xfrm>
        <a:graphic>
          <a:graphicData uri="http://schemas.openxmlformats.org/drawingml/2006/table">
            <a:tbl>
              <a:tblPr/>
              <a:tblGrid>
                <a:gridCol w="1787525"/>
                <a:gridCol w="984250"/>
                <a:gridCol w="2111375"/>
                <a:gridCol w="1898650"/>
                <a:gridCol w="1828800"/>
              </a:tblGrid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Job_ID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Commision_pct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Manager_ID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Department_ID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9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ST_CLERK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ST_CLERK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9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ST_CLERK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2600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ST_CLERK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9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SA-MAN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SA_REP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SA_REP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8600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640" name="Line 64"/>
          <p:cNvSpPr>
            <a:spLocks noChangeShapeType="1"/>
          </p:cNvSpPr>
          <p:nvPr/>
        </p:nvSpPr>
        <p:spPr bwMode="auto">
          <a:xfrm>
            <a:off x="1524000" y="10668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altLang="en-US"/>
              <a:t>Employee_Data ( 5 )</a:t>
            </a:r>
          </a:p>
        </p:txBody>
      </p:sp>
      <p:graphicFrame>
        <p:nvGraphicFramePr>
          <p:cNvPr id="26698" name="Group 74"/>
          <p:cNvGraphicFramePr>
            <a:graphicFrameLocks noGrp="1"/>
          </p:cNvGraphicFramePr>
          <p:nvPr>
            <p:ph idx="1"/>
          </p:nvPr>
        </p:nvGraphicFramePr>
        <p:xfrm>
          <a:off x="1981200" y="914400"/>
          <a:ext cx="8686800" cy="4911090"/>
        </p:xfrm>
        <a:graphic>
          <a:graphicData uri="http://schemas.openxmlformats.org/drawingml/2006/table">
            <a:tbl>
              <a:tblPr/>
              <a:tblGrid>
                <a:gridCol w="1163638"/>
                <a:gridCol w="1662112"/>
                <a:gridCol w="1439863"/>
                <a:gridCol w="1125537"/>
                <a:gridCol w="1439863"/>
                <a:gridCol w="1855787"/>
              </a:tblGrid>
              <a:tr h="5603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Employee_ID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First_Name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Last_Name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Email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Phone_Number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Hire_Date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3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Kimberly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Grant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KGRANT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011.44.1644.429263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24-MAY-1999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3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Jennifer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Whalen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JWHALEN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515.123.4444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17-SEP-1987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3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Michael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Hartstein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MHARTSTE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515.123.5555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17-FEB-1996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4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PFAY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603.123.6666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17-AUG-1997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2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Shelley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Higgins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SHIGGINS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515.123.8080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07-JUN-1994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3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William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Gietz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WGIETZ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515.123.8181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07-JUN-1994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697" name="Line 73"/>
          <p:cNvSpPr>
            <a:spLocks noChangeShapeType="1"/>
          </p:cNvSpPr>
          <p:nvPr/>
        </p:nvSpPr>
        <p:spPr bwMode="auto">
          <a:xfrm>
            <a:off x="9372600" y="4572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62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Employee_Data ( 6 )</a:t>
            </a:r>
          </a:p>
        </p:txBody>
      </p:sp>
      <p:graphicFrame>
        <p:nvGraphicFramePr>
          <p:cNvPr id="28904" name="Group 232"/>
          <p:cNvGraphicFramePr>
            <a:graphicFrameLocks noGrp="1"/>
          </p:cNvGraphicFramePr>
          <p:nvPr>
            <p:ph idx="1"/>
          </p:nvPr>
        </p:nvGraphicFramePr>
        <p:xfrm>
          <a:off x="1524000" y="1600201"/>
          <a:ext cx="8686800" cy="4456431"/>
        </p:xfrm>
        <a:graphic>
          <a:graphicData uri="http://schemas.openxmlformats.org/drawingml/2006/table">
            <a:tbl>
              <a:tblPr/>
              <a:tblGrid>
                <a:gridCol w="1863725"/>
                <a:gridCol w="984250"/>
                <a:gridCol w="2111375"/>
                <a:gridCol w="1898650"/>
                <a:gridCol w="1828800"/>
              </a:tblGrid>
              <a:tr h="600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Job_ID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Commision_pct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Manager_ID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Department_ID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16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SA_REP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0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AD_ASST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16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MK_MAN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2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MK_REP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AC_MGR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0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AC_ACCOUNT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8300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903" name="Line 231"/>
          <p:cNvSpPr>
            <a:spLocks noChangeShapeType="1"/>
          </p:cNvSpPr>
          <p:nvPr/>
        </p:nvSpPr>
        <p:spPr bwMode="auto">
          <a:xfrm>
            <a:off x="1524000" y="914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30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Jobs Table</a:t>
            </a:r>
          </a:p>
        </p:txBody>
      </p:sp>
      <p:graphicFrame>
        <p:nvGraphicFramePr>
          <p:cNvPr id="30837" name="Group 117"/>
          <p:cNvGraphicFramePr>
            <a:graphicFrameLocks noGrp="1"/>
          </p:cNvGraphicFramePr>
          <p:nvPr>
            <p:ph idx="1"/>
          </p:nvPr>
        </p:nvGraphicFramePr>
        <p:xfrm>
          <a:off x="1981200" y="1371601"/>
          <a:ext cx="8229600" cy="2303463"/>
        </p:xfrm>
        <a:graphic>
          <a:graphicData uri="http://schemas.openxmlformats.org/drawingml/2006/table">
            <a:tbl>
              <a:tblPr/>
              <a:tblGrid>
                <a:gridCol w="3262313"/>
                <a:gridCol w="2298700"/>
                <a:gridCol w="2668587"/>
              </a:tblGrid>
              <a:tr h="4746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Null?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JOB_ID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 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Varchar2(10)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JOB_TITLE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 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Varchar2(35)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MIN_SALARY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MAX_SALARY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838" name="Rectangle 118"/>
          <p:cNvSpPr>
            <a:spLocks noChangeArrowheads="1"/>
          </p:cNvSpPr>
          <p:nvPr/>
        </p:nvSpPr>
        <p:spPr bwMode="auto">
          <a:xfrm>
            <a:off x="1981201" y="914400"/>
            <a:ext cx="5906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tx2"/>
                </a:solidFill>
              </a:rPr>
              <a:t>Jobs</a:t>
            </a:r>
          </a:p>
        </p:txBody>
      </p:sp>
    </p:spTree>
    <p:extLst>
      <p:ext uri="{BB962C8B-B14F-4D97-AF65-F5344CB8AC3E}">
        <p14:creationId xmlns:p14="http://schemas.microsoft.com/office/powerpoint/2010/main" val="2559556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Jobs Data</a:t>
            </a:r>
          </a:p>
        </p:txBody>
      </p:sp>
      <p:graphicFrame>
        <p:nvGraphicFramePr>
          <p:cNvPr id="32831" name="Group 63"/>
          <p:cNvGraphicFramePr>
            <a:graphicFrameLocks noGrp="1"/>
          </p:cNvGraphicFramePr>
          <p:nvPr>
            <p:ph idx="1"/>
          </p:nvPr>
        </p:nvGraphicFramePr>
        <p:xfrm>
          <a:off x="1981200" y="1600201"/>
          <a:ext cx="8458200" cy="4705669"/>
        </p:xfrm>
        <a:graphic>
          <a:graphicData uri="http://schemas.openxmlformats.org/drawingml/2006/table">
            <a:tbl>
              <a:tblPr/>
              <a:tblGrid>
                <a:gridCol w="2057400"/>
                <a:gridCol w="2209800"/>
                <a:gridCol w="1682750"/>
                <a:gridCol w="2508250"/>
              </a:tblGrid>
              <a:tr h="711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Job_ID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Job_Title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Min_Salary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Max_Salary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1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AD_PRES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President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1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AD_VP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Administration Vice President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AD_ASST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Administration Assistant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73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AC_MGR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Accounting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Manager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16000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6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AC_ACCOUNT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Public Accountant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1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SA_MAN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Sales Manager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4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Job Data</a:t>
            </a:r>
          </a:p>
        </p:txBody>
      </p:sp>
      <p:graphicFrame>
        <p:nvGraphicFramePr>
          <p:cNvPr id="34881" name="Group 65"/>
          <p:cNvGraphicFramePr>
            <a:graphicFrameLocks noGrp="1"/>
          </p:cNvGraphicFramePr>
          <p:nvPr>
            <p:ph idx="1"/>
          </p:nvPr>
        </p:nvGraphicFramePr>
        <p:xfrm>
          <a:off x="1981200" y="1600201"/>
          <a:ext cx="8229600" cy="4055429"/>
        </p:xfrm>
        <a:graphic>
          <a:graphicData uri="http://schemas.openxmlformats.org/drawingml/2006/table">
            <a:tbl>
              <a:tblPr/>
              <a:tblGrid>
                <a:gridCol w="2001838"/>
                <a:gridCol w="2149475"/>
                <a:gridCol w="1638300"/>
                <a:gridCol w="2439987"/>
              </a:tblGrid>
              <a:tr h="655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Job_ID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Job_Title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Min_Salary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Max_Salary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3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ST_CLERK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Stock Clerk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1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IT_PROG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SA_REP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Sales Repsentative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MK_MAN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Marketing Manager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15000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2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MK_REP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Marketing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Representative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4567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JOB_GRADES Table</a:t>
            </a:r>
          </a:p>
        </p:txBody>
      </p:sp>
      <p:graphicFrame>
        <p:nvGraphicFramePr>
          <p:cNvPr id="36895" name="Group 31"/>
          <p:cNvGraphicFramePr>
            <a:graphicFrameLocks noGrp="1"/>
          </p:cNvGraphicFramePr>
          <p:nvPr>
            <p:ph idx="1"/>
          </p:nvPr>
        </p:nvGraphicFramePr>
        <p:xfrm>
          <a:off x="1981200" y="1600200"/>
          <a:ext cx="8229600" cy="3629026"/>
        </p:xfrm>
        <a:graphic>
          <a:graphicData uri="http://schemas.openxmlformats.org/drawingml/2006/table">
            <a:tbl>
              <a:tblPr/>
              <a:tblGrid>
                <a:gridCol w="3262313"/>
                <a:gridCol w="2298700"/>
                <a:gridCol w="2668587"/>
              </a:tblGrid>
              <a:tr h="935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Null?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8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GRADE_LEVEL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 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Varchar2(3)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6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LOWEST_SALARY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 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8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HIGHEST_SALARY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6896" name="Rectangle 32"/>
          <p:cNvSpPr>
            <a:spLocks noChangeArrowheads="1"/>
          </p:cNvSpPr>
          <p:nvPr/>
        </p:nvSpPr>
        <p:spPr bwMode="auto">
          <a:xfrm>
            <a:off x="1981200" y="1219200"/>
            <a:ext cx="14135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tx2"/>
                </a:solidFill>
              </a:rPr>
              <a:t>JOB_GRADES</a:t>
            </a:r>
          </a:p>
        </p:txBody>
      </p:sp>
    </p:spTree>
    <p:extLst>
      <p:ext uri="{BB962C8B-B14F-4D97-AF65-F5344CB8AC3E}">
        <p14:creationId xmlns:p14="http://schemas.microsoft.com/office/powerpoint/2010/main" val="1874574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Job_Grades Data	</a:t>
            </a:r>
          </a:p>
        </p:txBody>
      </p:sp>
      <p:graphicFrame>
        <p:nvGraphicFramePr>
          <p:cNvPr id="38969" name="Group 57"/>
          <p:cNvGraphicFramePr>
            <a:graphicFrameLocks noGrp="1"/>
          </p:cNvGraphicFramePr>
          <p:nvPr>
            <p:ph idx="1"/>
          </p:nvPr>
        </p:nvGraphicFramePr>
        <p:xfrm>
          <a:off x="1981200" y="1295400"/>
          <a:ext cx="8305800" cy="5216526"/>
        </p:xfrm>
        <a:graphic>
          <a:graphicData uri="http://schemas.openxmlformats.org/drawingml/2006/table">
            <a:tbl>
              <a:tblPr/>
              <a:tblGrid>
                <a:gridCol w="2001838"/>
                <a:gridCol w="3636962"/>
                <a:gridCol w="2667000"/>
              </a:tblGrid>
              <a:tr h="901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Grade_Level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Lowest_Salary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Highest_Salary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9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2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46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24999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46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681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JOB_History Table</a:t>
            </a:r>
          </a:p>
        </p:txBody>
      </p:sp>
      <p:graphicFrame>
        <p:nvGraphicFramePr>
          <p:cNvPr id="41009" name="Group 49"/>
          <p:cNvGraphicFramePr>
            <a:graphicFrameLocks noGrp="1"/>
          </p:cNvGraphicFramePr>
          <p:nvPr>
            <p:ph idx="1"/>
          </p:nvPr>
        </p:nvGraphicFramePr>
        <p:xfrm>
          <a:off x="1981200" y="1600201"/>
          <a:ext cx="8229600" cy="3352801"/>
        </p:xfrm>
        <a:graphic>
          <a:graphicData uri="http://schemas.openxmlformats.org/drawingml/2006/table">
            <a:tbl>
              <a:tblPr/>
              <a:tblGrid>
                <a:gridCol w="3262313"/>
                <a:gridCol w="2298700"/>
                <a:gridCol w="2668587"/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Null?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9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EMPLOYEE_ID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 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START_DATE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 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END_DATE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 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JOB_ID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 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Varchar2 ( 10 )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DEPARTMENT_ID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010" name="Rectangle 50"/>
          <p:cNvSpPr>
            <a:spLocks noChangeArrowheads="1"/>
          </p:cNvSpPr>
          <p:nvPr/>
        </p:nvSpPr>
        <p:spPr bwMode="auto">
          <a:xfrm>
            <a:off x="1905000" y="1143000"/>
            <a:ext cx="13175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tx2"/>
                </a:solidFill>
              </a:rPr>
              <a:t>JOB_History</a:t>
            </a:r>
          </a:p>
        </p:txBody>
      </p:sp>
    </p:spTree>
    <p:extLst>
      <p:ext uri="{BB962C8B-B14F-4D97-AF65-F5344CB8AC3E}">
        <p14:creationId xmlns:p14="http://schemas.microsoft.com/office/powerpoint/2010/main" val="3486254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762000"/>
          </a:xfrm>
        </p:spPr>
        <p:txBody>
          <a:bodyPr/>
          <a:lstStyle/>
          <a:p>
            <a:r>
              <a:rPr lang="en-US" altLang="en-US"/>
              <a:t>JOB_History Data</a:t>
            </a:r>
          </a:p>
        </p:txBody>
      </p:sp>
      <p:graphicFrame>
        <p:nvGraphicFramePr>
          <p:cNvPr id="43162" name="Group 154"/>
          <p:cNvGraphicFramePr>
            <a:graphicFrameLocks noGrp="1"/>
          </p:cNvGraphicFramePr>
          <p:nvPr>
            <p:ph idx="1"/>
          </p:nvPr>
        </p:nvGraphicFramePr>
        <p:xfrm>
          <a:off x="1981200" y="1219200"/>
          <a:ext cx="8305800" cy="5402898"/>
        </p:xfrm>
        <a:graphic>
          <a:graphicData uri="http://schemas.openxmlformats.org/drawingml/2006/table">
            <a:tbl>
              <a:tblPr/>
              <a:tblGrid>
                <a:gridCol w="1358900"/>
                <a:gridCol w="1619250"/>
                <a:gridCol w="1365250"/>
                <a:gridCol w="2133600"/>
                <a:gridCol w="1828800"/>
              </a:tblGrid>
              <a:tr h="782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Employee_id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Start_Date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End_Date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Job_id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Department_ 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13-JAN-1993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24-JUL-1998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IT_PROG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21-SEP-1989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27-OCT-1993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AC_ACCOUNT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28-OCT-1993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15-MAR-1997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AC_MGR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0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17-FEB-1996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19-DEC-1999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MK_REP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8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24-MAR-1998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31-DEC-1998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ST_CLERK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8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01-JAN-1999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31-DEC-1999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ST_CLERK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9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JOB_HISTORY Data</a:t>
            </a:r>
          </a:p>
        </p:txBody>
      </p:sp>
      <p:graphicFrame>
        <p:nvGraphicFramePr>
          <p:cNvPr id="45113" name="Group 57"/>
          <p:cNvGraphicFramePr>
            <a:graphicFrameLocks noGrp="1"/>
          </p:cNvGraphicFramePr>
          <p:nvPr>
            <p:ph idx="1"/>
          </p:nvPr>
        </p:nvGraphicFramePr>
        <p:xfrm>
          <a:off x="1905000" y="1371600"/>
          <a:ext cx="8229600" cy="3505200"/>
        </p:xfrm>
        <a:graphic>
          <a:graphicData uri="http://schemas.openxmlformats.org/drawingml/2006/table">
            <a:tbl>
              <a:tblPr/>
              <a:tblGrid>
                <a:gridCol w="1346200"/>
                <a:gridCol w="1604963"/>
                <a:gridCol w="1352550"/>
                <a:gridCol w="2173287"/>
                <a:gridCol w="1752600"/>
              </a:tblGrid>
              <a:tr h="655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Employee_id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Start_Date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End_Date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Job_id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Department_ 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17-SEP-1987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17-JUN-1993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AD_ASST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24-MAR-1998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31-DEC-1998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SA_REP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01-JAN-1999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31-DEC-1999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SA_MAN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7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01-JUL-1994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31-DEC-1998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AC_ACCOUNT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612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Locations Table</a:t>
            </a:r>
          </a:p>
        </p:txBody>
      </p:sp>
      <p:graphicFrame>
        <p:nvGraphicFramePr>
          <p:cNvPr id="47147" name="Group 43"/>
          <p:cNvGraphicFramePr>
            <a:graphicFrameLocks noGrp="1"/>
          </p:cNvGraphicFramePr>
          <p:nvPr>
            <p:ph idx="1"/>
          </p:nvPr>
        </p:nvGraphicFramePr>
        <p:xfrm>
          <a:off x="1981200" y="1600201"/>
          <a:ext cx="8229600" cy="4800601"/>
        </p:xfrm>
        <a:graphic>
          <a:graphicData uri="http://schemas.openxmlformats.org/drawingml/2006/table">
            <a:tbl>
              <a:tblPr/>
              <a:tblGrid>
                <a:gridCol w="3262313"/>
                <a:gridCol w="2376487"/>
                <a:gridCol w="2590800"/>
              </a:tblGrid>
              <a:tr h="733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Null?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5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LOCATION_ID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 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STREET_ADDRESS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VARCHAR2(40)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1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POSTAL_CODE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VARCHAR2(12)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2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 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VARCHAR2(30)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5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STATE_PROVINCE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VARCHAR2(25)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3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COUNTRY_ID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CHAR(2)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7148" name="Rectangle 44"/>
          <p:cNvSpPr>
            <a:spLocks noChangeArrowheads="1"/>
          </p:cNvSpPr>
          <p:nvPr/>
        </p:nvSpPr>
        <p:spPr bwMode="auto">
          <a:xfrm>
            <a:off x="1981201" y="1143000"/>
            <a:ext cx="10718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tx2"/>
                </a:solidFill>
              </a:rPr>
              <a:t>Locations</a:t>
            </a:r>
          </a:p>
        </p:txBody>
      </p:sp>
    </p:spTree>
    <p:extLst>
      <p:ext uri="{BB962C8B-B14F-4D97-AF65-F5344CB8AC3E}">
        <p14:creationId xmlns:p14="http://schemas.microsoft.com/office/powerpoint/2010/main" val="2644681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altLang="en-US"/>
              <a:t>LOCATION DATA</a:t>
            </a:r>
          </a:p>
        </p:txBody>
      </p:sp>
      <p:graphicFrame>
        <p:nvGraphicFramePr>
          <p:cNvPr id="49244" name="Group 92"/>
          <p:cNvGraphicFramePr>
            <a:graphicFrameLocks noGrp="1"/>
          </p:cNvGraphicFramePr>
          <p:nvPr>
            <p:ph idx="1"/>
          </p:nvPr>
        </p:nvGraphicFramePr>
        <p:xfrm>
          <a:off x="1663700" y="876301"/>
          <a:ext cx="8763000" cy="6038533"/>
        </p:xfrm>
        <a:graphic>
          <a:graphicData uri="http://schemas.openxmlformats.org/drawingml/2006/table">
            <a:tbl>
              <a:tblPr/>
              <a:tblGrid>
                <a:gridCol w="1181100"/>
                <a:gridCol w="2057400"/>
                <a:gridCol w="1092200"/>
                <a:gridCol w="1612900"/>
                <a:gridCol w="1993900"/>
                <a:gridCol w="825500"/>
              </a:tblGrid>
              <a:tr h="904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Location_ID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Street_address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Postal_Code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State_Province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Country_ID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4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2014 Jabberwocky 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26192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Southlake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Texas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6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2011 Interiors bwd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99236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South San Francisco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California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4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2004 Charade 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98199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Seattle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Washington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4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460 Blor St 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ON M5S 1X8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Toronto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Ontario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4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Magdalen Centre, The Oxford Science Park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OX9 9ZB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Oxford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Oxford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07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Regions Table</a:t>
            </a:r>
          </a:p>
        </p:txBody>
      </p:sp>
      <p:graphicFrame>
        <p:nvGraphicFramePr>
          <p:cNvPr id="51239" name="Group 39"/>
          <p:cNvGraphicFramePr>
            <a:graphicFrameLocks noGrp="1"/>
          </p:cNvGraphicFramePr>
          <p:nvPr>
            <p:ph idx="1"/>
          </p:nvPr>
        </p:nvGraphicFramePr>
        <p:xfrm>
          <a:off x="1981200" y="1600201"/>
          <a:ext cx="8229600" cy="1790701"/>
        </p:xfrm>
        <a:graphic>
          <a:graphicData uri="http://schemas.openxmlformats.org/drawingml/2006/table">
            <a:tbl>
              <a:tblPr/>
              <a:tblGrid>
                <a:gridCol w="3262313"/>
                <a:gridCol w="2376487"/>
                <a:gridCol w="2590800"/>
              </a:tblGrid>
              <a:tr h="692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Null?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Region_ID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 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Region_Name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VARCHAR2(25)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1240" name="Rectangle 40"/>
          <p:cNvSpPr>
            <a:spLocks noChangeArrowheads="1"/>
          </p:cNvSpPr>
          <p:nvPr/>
        </p:nvSpPr>
        <p:spPr bwMode="auto">
          <a:xfrm>
            <a:off x="1981201" y="1143000"/>
            <a:ext cx="9164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tx2"/>
                </a:solidFill>
              </a:rPr>
              <a:t>Regions</a:t>
            </a:r>
          </a:p>
        </p:txBody>
      </p:sp>
    </p:spTree>
    <p:extLst>
      <p:ext uri="{BB962C8B-B14F-4D97-AF65-F5344CB8AC3E}">
        <p14:creationId xmlns:p14="http://schemas.microsoft.com/office/powerpoint/2010/main" val="285981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Regions Data</a:t>
            </a:r>
          </a:p>
        </p:txBody>
      </p:sp>
      <p:graphicFrame>
        <p:nvGraphicFramePr>
          <p:cNvPr id="53294" name="Group 46"/>
          <p:cNvGraphicFramePr>
            <a:graphicFrameLocks noGrp="1"/>
          </p:cNvGraphicFramePr>
          <p:nvPr>
            <p:ph idx="1"/>
          </p:nvPr>
        </p:nvGraphicFramePr>
        <p:xfrm>
          <a:off x="1981200" y="1600201"/>
          <a:ext cx="8153400" cy="4525963"/>
        </p:xfrm>
        <a:graphic>
          <a:graphicData uri="http://schemas.openxmlformats.org/drawingml/2006/table">
            <a:tbl>
              <a:tblPr/>
              <a:tblGrid>
                <a:gridCol w="3429000"/>
                <a:gridCol w="4724400"/>
              </a:tblGrid>
              <a:tr h="904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Region_ID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Region_Name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4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Europe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6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Americas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4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Asia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4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Middle East and Africa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449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749</Words>
  <Application>Microsoft Office PowerPoint</Application>
  <PresentationFormat>Widescreen</PresentationFormat>
  <Paragraphs>620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SQL Practice</vt:lpstr>
      <vt:lpstr>Step 1 : Create and Insert Data to Table</vt:lpstr>
      <vt:lpstr>Countries Table</vt:lpstr>
      <vt:lpstr>Country Data</vt:lpstr>
      <vt:lpstr>DEPARTMENTS TABLE</vt:lpstr>
      <vt:lpstr>Department Data</vt:lpstr>
      <vt:lpstr>Employees Table</vt:lpstr>
      <vt:lpstr>Employee Data</vt:lpstr>
      <vt:lpstr>Employee Data ( 2 )</vt:lpstr>
      <vt:lpstr>Employee_Data ( 3 )</vt:lpstr>
      <vt:lpstr>Employee Data ( 4 )</vt:lpstr>
      <vt:lpstr>Employee_Data ( 5 )</vt:lpstr>
      <vt:lpstr>Employee_Data ( 6 )</vt:lpstr>
      <vt:lpstr>Jobs Table</vt:lpstr>
      <vt:lpstr>Jobs Data</vt:lpstr>
      <vt:lpstr>Job Data</vt:lpstr>
      <vt:lpstr>JOB_GRADES Table</vt:lpstr>
      <vt:lpstr>Job_Grades Data </vt:lpstr>
      <vt:lpstr>JOB_History Table</vt:lpstr>
      <vt:lpstr>JOB_History Data</vt:lpstr>
      <vt:lpstr>JOB_HISTORY Data</vt:lpstr>
      <vt:lpstr>Locations Table</vt:lpstr>
      <vt:lpstr>LOCATION DATA</vt:lpstr>
      <vt:lpstr>Regions Table</vt:lpstr>
      <vt:lpstr>Regions Data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Practice</dc:title>
  <dc:creator>IWAN HERDIAN</dc:creator>
  <cp:lastModifiedBy>IWAN HERDIAN</cp:lastModifiedBy>
  <cp:revision>1</cp:revision>
  <dcterms:created xsi:type="dcterms:W3CDTF">2025-10-07T00:44:23Z</dcterms:created>
  <dcterms:modified xsi:type="dcterms:W3CDTF">2025-10-07T00:44:40Z</dcterms:modified>
</cp:coreProperties>
</file>