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9" r:id="rId4"/>
  </p:sldMasterIdLst>
  <p:notesMasterIdLst>
    <p:notesMasterId r:id="rId16"/>
  </p:notesMasterIdLst>
  <p:sldIdLst>
    <p:sldId id="256" r:id="rId5"/>
    <p:sldId id="257" r:id="rId6"/>
    <p:sldId id="266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61" r:id="rId15"/>
  </p:sldIdLst>
  <p:sldSz cx="9144000" cy="5143500" type="screen16x9"/>
  <p:notesSz cx="6858000" cy="9144000"/>
  <p:embeddedFontLst>
    <p:embeddedFont>
      <p:font typeface="Inter Light" panose="020B0604020202020204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  <p:bold r:id="rId22"/>
      <p:italic r:id="rId23"/>
      <p:boldItalic r:id="rId24"/>
    </p:embeddedFont>
    <p:embeddedFont>
      <p:font typeface="Book Antiqua" panose="02040602050305030304" pitchFamily="18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0" d="100"/>
          <a:sy n="160" d="100"/>
        </p:scale>
        <p:origin x="20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723153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8c8dc456d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8c8dc456d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9172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8c8dc456d_0_8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18c8dc456d_0_8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2064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8c8dc456d_0_8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18c8dc456d_0_8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1556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8c8dc456d_0_8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18c8dc456d_0_8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7087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8c8dc456d_0_8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18c8dc456d_0_8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0535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8c8dc456d_0_8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18c8dc456d_0_8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3557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8c8dc456d_0_8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18c8dc456d_0_8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8681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8c8dc456d_0_8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18c8dc456d_0_8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569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8c8dc456d_0_8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18c8dc456d_0_8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949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8c8dc456d_0_8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18c8dc456d_0_8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725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18c8dc456d_0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18c8dc456d_0_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18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 slide 1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82" name="Google Shape;382;p5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83" name="Google Shape;383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5118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Header">
  <p:cSld name="Image Header">
    <p:bg>
      <p:bgPr>
        <a:solidFill>
          <a:schemeClr val="dk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>
            <a:spLocks noGrp="1"/>
          </p:cNvSpPr>
          <p:nvPr>
            <p:ph type="pic" idx="2"/>
          </p:nvPr>
        </p:nvSpPr>
        <p:spPr>
          <a:xfrm>
            <a:off x="213750" y="586950"/>
            <a:ext cx="8701800" cy="2327100"/>
          </a:xfrm>
          <a:prstGeom prst="roundRect">
            <a:avLst>
              <a:gd name="adj" fmla="val 3913"/>
            </a:avLst>
          </a:prstGeom>
          <a:noFill/>
          <a:ln>
            <a:noFill/>
          </a:ln>
        </p:spPr>
      </p:sp>
      <p:sp>
        <p:nvSpPr>
          <p:cNvPr id="173" name="Google Shape;173;p25"/>
          <p:cNvSpPr txBox="1">
            <a:spLocks noGrp="1"/>
          </p:cNvSpPr>
          <p:nvPr>
            <p:ph type="body" idx="1"/>
          </p:nvPr>
        </p:nvSpPr>
        <p:spPr>
          <a:xfrm>
            <a:off x="5362800" y="3071200"/>
            <a:ext cx="35526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51853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Timeline" type="titleOnly">
  <p:cSld name="Project Timeline"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452575" y="596800"/>
            <a:ext cx="6868800" cy="13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sz="4800" b="1"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589475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2"/>
          </p:nvPr>
        </p:nvSpPr>
        <p:spPr>
          <a:xfrm>
            <a:off x="2601850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3"/>
          </p:nvPr>
        </p:nvSpPr>
        <p:spPr>
          <a:xfrm>
            <a:off x="4601450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4"/>
          </p:nvPr>
        </p:nvSpPr>
        <p:spPr>
          <a:xfrm>
            <a:off x="6602800" y="2780825"/>
            <a:ext cx="1641300" cy="17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5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0841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701" r:id="rId12"/>
    <p:sldLayoutId id="2147483702" r:id="rId13"/>
    <p:sldLayoutId id="214748370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jp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9450" y="248250"/>
            <a:ext cx="2167152" cy="996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4"/>
          <p:cNvSpPr txBox="1"/>
          <p:nvPr/>
        </p:nvSpPr>
        <p:spPr>
          <a:xfrm>
            <a:off x="468975" y="1872300"/>
            <a:ext cx="4927200" cy="15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1" dirty="0" smtClean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INTEGRATION PRINCIPAL - DISTRIBUTOR</a:t>
            </a:r>
            <a:endParaRPr sz="3200" b="1" i="1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54"/>
          <p:cNvSpPr txBox="1"/>
          <p:nvPr/>
        </p:nvSpPr>
        <p:spPr>
          <a:xfrm>
            <a:off x="468975" y="4491100"/>
            <a:ext cx="29841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0" b="1" i="1" dirty="0" smtClean="0">
                <a:solidFill>
                  <a:srgbClr val="036240"/>
                </a:solidFill>
                <a:latin typeface="Inter"/>
                <a:ea typeface="Inter"/>
                <a:cs typeface="Inter"/>
                <a:sym typeface="Inter"/>
              </a:rPr>
              <a:t>06/10/2025</a:t>
            </a:r>
            <a:endParaRPr sz="1420" b="1" i="1" dirty="0">
              <a:solidFill>
                <a:srgbClr val="0362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225" y="0"/>
            <a:ext cx="1621775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88471" y="962212"/>
            <a:ext cx="84746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Dalam kegiatan </a:t>
            </a:r>
            <a:r>
              <a:rPr lang="en-US" dirty="0" err="1"/>
              <a:t>penjualan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pembelian rokok, NNA sebagai distributor </a:t>
            </a:r>
            <a:r>
              <a:rPr lang="en-US" dirty="0" err="1"/>
              <a:t>bermitra</a:t>
            </a:r>
            <a:r>
              <a:rPr lang="en-US" dirty="0"/>
              <a:t> dengan PT Rokok, yaitu NTI, NCT, NSTI </a:t>
            </a:r>
            <a:r>
              <a:rPr lang="en-US" dirty="0" err="1"/>
              <a:t>dan</a:t>
            </a:r>
            <a:r>
              <a:rPr lang="en-US" dirty="0"/>
              <a:t> ATI sebagai </a:t>
            </a:r>
            <a:r>
              <a:rPr lang="en-US" dirty="0" err="1"/>
              <a:t>prinsipal</a:t>
            </a:r>
            <a:r>
              <a:rPr lang="en-US" dirty="0"/>
              <a:t>. Untuk kegiatan pengiriman </a:t>
            </a:r>
            <a:r>
              <a:rPr lang="en-US" dirty="0" err="1"/>
              <a:t>dan</a:t>
            </a:r>
            <a:r>
              <a:rPr lang="en-US" dirty="0"/>
              <a:t> penerimaan barang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prinsipal</a:t>
            </a:r>
            <a:r>
              <a:rPr lang="en-US" dirty="0"/>
              <a:t> ke distributor, </a:t>
            </a:r>
            <a:r>
              <a:rPr lang="en-US" dirty="0" err="1"/>
              <a:t>direncanakan</a:t>
            </a:r>
            <a:r>
              <a:rPr lang="en-US" dirty="0"/>
              <a:t> adanya </a:t>
            </a:r>
            <a:r>
              <a:rPr lang="en-US" dirty="0" err="1"/>
              <a:t>otomasi</a:t>
            </a:r>
            <a:r>
              <a:rPr lang="en-US" dirty="0"/>
              <a:t> pada sistem ERP distributor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prinsipal</a:t>
            </a:r>
            <a:r>
              <a:rPr lang="en-US" dirty="0"/>
              <a:t> sehingga aktivitas konfirmasi receipt pada </a:t>
            </a:r>
            <a:r>
              <a:rPr lang="en-US" dirty="0" err="1"/>
              <a:t>prinsipal</a:t>
            </a:r>
            <a:r>
              <a:rPr lang="en-US" dirty="0"/>
              <a:t> dalam berjalan secara otomatis</a:t>
            </a:r>
            <a:r>
              <a:rPr lang="en-US" dirty="0" smtClean="0"/>
              <a:t>. Dengan </a:t>
            </a:r>
            <a:r>
              <a:rPr lang="en-US" dirty="0" err="1" smtClean="0"/>
              <a:t>demikian</a:t>
            </a:r>
            <a:r>
              <a:rPr lang="en-US" dirty="0" smtClean="0"/>
              <a:t> </a:t>
            </a:r>
            <a:r>
              <a:rPr lang="en-US" dirty="0" err="1" smtClean="0"/>
              <a:t>otomatisasi</a:t>
            </a:r>
            <a:r>
              <a:rPr lang="en-US" dirty="0" smtClean="0"/>
              <a:t> ini </a:t>
            </a:r>
            <a:r>
              <a:rPr lang="en-US" b="1" dirty="0" smtClean="0"/>
              <a:t>memungkinkan </a:t>
            </a:r>
            <a:r>
              <a:rPr lang="en-US" b="1" dirty="0" err="1" smtClean="0"/>
              <a:t>pengakuan</a:t>
            </a:r>
            <a:r>
              <a:rPr lang="en-US" b="1" dirty="0" smtClean="0"/>
              <a:t> Revenue pada </a:t>
            </a:r>
            <a:r>
              <a:rPr lang="en-US" b="1" dirty="0" err="1"/>
              <a:t>P</a:t>
            </a:r>
            <a:r>
              <a:rPr lang="en-US" b="1" dirty="0" err="1" smtClean="0"/>
              <a:t>rinsipal</a:t>
            </a:r>
            <a:r>
              <a:rPr lang="en-US" b="1" dirty="0" smtClean="0"/>
              <a:t> terjadi pada saat penerimaan PO (PO Receipt)</a:t>
            </a:r>
            <a:r>
              <a:rPr lang="en-US" dirty="0" smtClean="0"/>
              <a:t> di Distributor.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Untuk </a:t>
            </a:r>
            <a:r>
              <a:rPr lang="en-US" dirty="0" err="1"/>
              <a:t>mencapai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ini diperlukan integrasi </a:t>
            </a:r>
            <a:r>
              <a:rPr lang="en-US" dirty="0" err="1"/>
              <a:t>antara</a:t>
            </a:r>
            <a:r>
              <a:rPr lang="en-US" dirty="0"/>
              <a:t> sistem ERP </a:t>
            </a:r>
            <a:r>
              <a:rPr lang="en-US" dirty="0" err="1"/>
              <a:t>antara</a:t>
            </a:r>
            <a:r>
              <a:rPr lang="en-US" dirty="0"/>
              <a:t> distributor </a:t>
            </a:r>
            <a:r>
              <a:rPr lang="en-US" dirty="0" err="1"/>
              <a:t>dan</a:t>
            </a:r>
            <a:r>
              <a:rPr lang="en-US" dirty="0"/>
              <a:t> para </a:t>
            </a:r>
            <a:r>
              <a:rPr lang="en-US" dirty="0" err="1"/>
              <a:t>prinsipal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pertukaran</a:t>
            </a:r>
            <a:r>
              <a:rPr lang="en-US" dirty="0"/>
              <a:t> file menggunakan SFTP yang </a:t>
            </a:r>
            <a:r>
              <a:rPr lang="en-US" dirty="0" err="1"/>
              <a:t>disediakan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NNA sebagai distributor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smtClean="0"/>
              <a:t>Sistem ERP yang digunakan </a:t>
            </a:r>
            <a:r>
              <a:rPr lang="en-US" dirty="0" err="1" smtClean="0"/>
              <a:t>oleh</a:t>
            </a:r>
            <a:r>
              <a:rPr lang="en-US" dirty="0" smtClean="0"/>
              <a:t> </a:t>
            </a:r>
            <a:r>
              <a:rPr lang="en-US" dirty="0" err="1" smtClean="0"/>
              <a:t>prinsipal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distributor adalah Oracle E-Business Suite 12.2, dimana menggunakan Oracle Database versi 19C, </a:t>
            </a:r>
            <a:r>
              <a:rPr lang="en-US" dirty="0" err="1" smtClean="0"/>
              <a:t>bahasa</a:t>
            </a:r>
            <a:r>
              <a:rPr lang="en-US" dirty="0" smtClean="0"/>
              <a:t> program yang digunakan SQL, PL/SQL.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225" y="0"/>
            <a:ext cx="1621775" cy="6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591" y="146890"/>
            <a:ext cx="5247009" cy="470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225" y="0"/>
            <a:ext cx="1621775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88471" y="962212"/>
            <a:ext cx="8474635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044" y="788895"/>
            <a:ext cx="6835367" cy="347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24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225" y="0"/>
            <a:ext cx="1621775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88471" y="962212"/>
            <a:ext cx="8474635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459" y="676274"/>
            <a:ext cx="4919475" cy="39635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9934" y="962212"/>
            <a:ext cx="3328944" cy="13079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84193" y="777874"/>
            <a:ext cx="1200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 smtClean="0">
                <a:latin typeface="Book Antiqua" panose="02040602050305030304" pitchFamily="18" charset="0"/>
              </a:rPr>
              <a:t>Prinsipal</a:t>
            </a:r>
            <a:endParaRPr lang="en-US" b="1" dirty="0">
              <a:latin typeface="Book Antiqua" panose="0204060205030503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84192" y="2294454"/>
            <a:ext cx="1200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smtClean="0">
                <a:latin typeface="Book Antiqua" panose="02040602050305030304" pitchFamily="18" charset="0"/>
              </a:rPr>
              <a:t>Distributor</a:t>
            </a:r>
            <a:endParaRPr lang="en-US" b="1" dirty="0">
              <a:latin typeface="Book Antiqua" panose="0204060205030503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49934" y="2556064"/>
            <a:ext cx="3053407" cy="136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800" dirty="0" smtClean="0">
                <a:latin typeface="Book Antiqua" panose="02040602050305030304" pitchFamily="18" charset="0"/>
              </a:rPr>
              <a:t>1. Put File PO, untuk </a:t>
            </a:r>
            <a:r>
              <a:rPr lang="en-US" sz="800" dirty="0" err="1" smtClean="0">
                <a:latin typeface="Book Antiqua" panose="02040602050305030304" pitchFamily="18" charset="0"/>
              </a:rPr>
              <a:t>meletakkan</a:t>
            </a:r>
            <a:r>
              <a:rPr lang="en-US" sz="800" dirty="0" smtClean="0">
                <a:latin typeface="Book Antiqua" panose="02040602050305030304" pitchFamily="18" charset="0"/>
              </a:rPr>
              <a:t> file yang berisi data PO ke distributor</a:t>
            </a:r>
          </a:p>
          <a:p>
            <a:pPr>
              <a:lnSpc>
                <a:spcPct val="150000"/>
              </a:lnSpc>
            </a:pPr>
            <a:r>
              <a:rPr lang="en-US" sz="800" dirty="0" smtClean="0">
                <a:latin typeface="Book Antiqua" panose="02040602050305030304" pitchFamily="18" charset="0"/>
              </a:rPr>
              <a:t>2. Get File DO, </a:t>
            </a:r>
            <a:r>
              <a:rPr lang="en-US" sz="800" dirty="0" err="1" smtClean="0">
                <a:latin typeface="Book Antiqua" panose="02040602050305030304" pitchFamily="18" charset="0"/>
              </a:rPr>
              <a:t>mengambil</a:t>
            </a:r>
            <a:r>
              <a:rPr lang="en-US" sz="800" dirty="0" smtClean="0">
                <a:latin typeface="Book Antiqua" panose="02040602050305030304" pitchFamily="18" charset="0"/>
              </a:rPr>
              <a:t> data DO yang dikirimkan </a:t>
            </a:r>
            <a:r>
              <a:rPr lang="en-US" sz="800" dirty="0" err="1" smtClean="0">
                <a:latin typeface="Book Antiqua" panose="02040602050305030304" pitchFamily="18" charset="0"/>
              </a:rPr>
              <a:t>prinsipal</a:t>
            </a:r>
            <a:r>
              <a:rPr lang="en-US" sz="800" dirty="0" smtClean="0">
                <a:latin typeface="Book Antiqua" panose="02040602050305030304" pitchFamily="18" charset="0"/>
              </a:rPr>
              <a:t> </a:t>
            </a:r>
            <a:r>
              <a:rPr lang="en-US" sz="800" dirty="0" err="1" smtClean="0">
                <a:latin typeface="Book Antiqua" panose="02040602050305030304" pitchFamily="18" charset="0"/>
              </a:rPr>
              <a:t>dan</a:t>
            </a:r>
            <a:r>
              <a:rPr lang="en-US" sz="800" dirty="0" smtClean="0">
                <a:latin typeface="Book Antiqua" panose="02040602050305030304" pitchFamily="18" charset="0"/>
              </a:rPr>
              <a:t> disimpan di custom table</a:t>
            </a:r>
          </a:p>
          <a:p>
            <a:pPr>
              <a:lnSpc>
                <a:spcPct val="150000"/>
              </a:lnSpc>
            </a:pPr>
            <a:r>
              <a:rPr lang="en-US" sz="800" dirty="0" smtClean="0">
                <a:latin typeface="Book Antiqua" panose="02040602050305030304" pitchFamily="18" charset="0"/>
              </a:rPr>
              <a:t>3. Put File Receipt, </a:t>
            </a:r>
            <a:r>
              <a:rPr lang="en-US" sz="800" dirty="0" err="1" smtClean="0">
                <a:latin typeface="Book Antiqua" panose="02040602050305030304" pitchFamily="18" charset="0"/>
              </a:rPr>
              <a:t>meletakkan</a:t>
            </a:r>
            <a:r>
              <a:rPr lang="en-US" sz="800" dirty="0" smtClean="0">
                <a:latin typeface="Book Antiqua" panose="02040602050305030304" pitchFamily="18" charset="0"/>
              </a:rPr>
              <a:t> data PO Receipt yang </a:t>
            </a:r>
            <a:r>
              <a:rPr lang="en-US" sz="800" dirty="0" err="1" smtClean="0">
                <a:latin typeface="Book Antiqua" panose="02040602050305030304" pitchFamily="18" charset="0"/>
              </a:rPr>
              <a:t>sudah</a:t>
            </a:r>
            <a:r>
              <a:rPr lang="en-US" sz="800" dirty="0" smtClean="0">
                <a:latin typeface="Book Antiqua" panose="02040602050305030304" pitchFamily="18" charset="0"/>
              </a:rPr>
              <a:t> dilakukan receipt berdasarkan nomor DO </a:t>
            </a:r>
            <a:r>
              <a:rPr lang="en-US" sz="800" dirty="0" err="1" smtClean="0">
                <a:latin typeface="Book Antiqua" panose="02040602050305030304" pitchFamily="18" charset="0"/>
              </a:rPr>
              <a:t>Prinsipal</a:t>
            </a:r>
            <a:endParaRPr lang="en-US" sz="800" dirty="0" smtClean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800" dirty="0" smtClean="0">
                <a:latin typeface="Book Antiqua" panose="02040602050305030304" pitchFamily="18" charset="0"/>
              </a:rPr>
              <a:t>4. Form Personalization pada form PO Receipt</a:t>
            </a:r>
            <a:endParaRPr lang="en-US" sz="800" dirty="0">
              <a:latin typeface="Book Antiqua" panose="0204060205030503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77788" y="1337764"/>
            <a:ext cx="239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smtClean="0">
                <a:solidFill>
                  <a:schemeClr val="accent1"/>
                </a:solidFill>
              </a:rPr>
              <a:t>1</a:t>
            </a:r>
            <a:endParaRPr lang="en-US" sz="1100" b="1" dirty="0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76187" y="2256530"/>
            <a:ext cx="239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</a:rPr>
              <a:t>2</a:t>
            </a:r>
            <a:endParaRPr lang="en-US" sz="1100" b="1" dirty="0">
              <a:solidFill>
                <a:schemeClr val="accent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95716" y="3661238"/>
            <a:ext cx="239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</a:rPr>
              <a:t>3</a:t>
            </a:r>
            <a:endParaRPr lang="en-US" sz="1100" b="1" dirty="0">
              <a:solidFill>
                <a:schemeClr val="accent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48870" y="3354823"/>
            <a:ext cx="2390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smtClean="0">
                <a:solidFill>
                  <a:schemeClr val="accent1"/>
                </a:solidFill>
              </a:rPr>
              <a:t>4</a:t>
            </a:r>
            <a:endParaRPr lang="en-US" sz="1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077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225" y="0"/>
            <a:ext cx="1621775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88471" y="962212"/>
            <a:ext cx="8474635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92847" y="824753"/>
            <a:ext cx="8737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>
                <a:latin typeface="Book Antiqua" panose="02040602050305030304" pitchFamily="18" charset="0"/>
              </a:rPr>
              <a:t>Concurrent Program </a:t>
            </a:r>
            <a:r>
              <a:rPr lang="pl-PL" dirty="0">
                <a:latin typeface="Book Antiqua" panose="02040602050305030304" pitchFamily="18" charset="0"/>
              </a:rPr>
              <a:t>XTD PO - Put File PO</a:t>
            </a: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endParaRPr lang="en-US" dirty="0" smtClean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  <a:p>
            <a:endParaRPr lang="en-US" dirty="0" smtClean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 smtClean="0">
                <a:latin typeface="Book Antiqua" panose="02040602050305030304" pitchFamily="18" charset="0"/>
              </a:rPr>
              <a:t>Package Procedure:</a:t>
            </a:r>
          </a:p>
          <a:p>
            <a:r>
              <a:rPr lang="en-US" dirty="0" err="1">
                <a:latin typeface="Book Antiqua" panose="02040602050305030304" pitchFamily="18" charset="0"/>
              </a:rPr>
              <a:t>XTD_FND_INT_TXTFILE_PKG.write_po_txtfile</a:t>
            </a:r>
            <a:endParaRPr lang="en-US" dirty="0" smtClean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471" y="1377075"/>
            <a:ext cx="2505331" cy="14647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1570" y="1218699"/>
            <a:ext cx="2460554" cy="178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46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225" y="0"/>
            <a:ext cx="1621775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88471" y="962212"/>
            <a:ext cx="8474635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92847" y="824753"/>
            <a:ext cx="8737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Book Antiqua" panose="02040602050305030304" pitchFamily="18" charset="0"/>
              </a:rPr>
              <a:t>2. Concurrent Program </a:t>
            </a:r>
            <a:r>
              <a:rPr lang="pl-PL" dirty="0">
                <a:latin typeface="Book Antiqua" panose="02040602050305030304" pitchFamily="18" charset="0"/>
              </a:rPr>
              <a:t>XTD PO - Get File DO</a:t>
            </a: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endParaRPr lang="en-US" dirty="0" smtClean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  <a:p>
            <a:endParaRPr lang="en-US" dirty="0" smtClean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 smtClean="0">
                <a:latin typeface="Book Antiqua" panose="02040602050305030304" pitchFamily="18" charset="0"/>
              </a:rPr>
              <a:t>Package Procedure:</a:t>
            </a:r>
          </a:p>
          <a:p>
            <a:r>
              <a:rPr lang="en-US" dirty="0" err="1">
                <a:latin typeface="Book Antiqua" panose="02040602050305030304" pitchFamily="18" charset="0"/>
              </a:rPr>
              <a:t>XTD_FND_INT_TXTFILE_PKG.so_processing</a:t>
            </a:r>
            <a:endParaRPr lang="en-US" dirty="0" smtClean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584" y="1415649"/>
            <a:ext cx="2926874" cy="13875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8965" y="1149988"/>
            <a:ext cx="2589519" cy="214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28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225" y="0"/>
            <a:ext cx="1621775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88471" y="962212"/>
            <a:ext cx="8474635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92847" y="824753"/>
            <a:ext cx="8737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3</a:t>
            </a:r>
            <a:r>
              <a:rPr lang="en-US" dirty="0" smtClean="0">
                <a:latin typeface="Book Antiqua" panose="02040602050305030304" pitchFamily="18" charset="0"/>
              </a:rPr>
              <a:t>. Concurrent Program </a:t>
            </a:r>
            <a:r>
              <a:rPr lang="pl-PL" dirty="0">
                <a:latin typeface="Book Antiqua" panose="02040602050305030304" pitchFamily="18" charset="0"/>
              </a:rPr>
              <a:t>XTD PO - Put File RCV</a:t>
            </a: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endParaRPr lang="en-US" dirty="0" smtClean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  <a:p>
            <a:endParaRPr lang="en-US" dirty="0" smtClean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 smtClean="0">
                <a:latin typeface="Book Antiqua" panose="02040602050305030304" pitchFamily="18" charset="0"/>
              </a:rPr>
              <a:t>Package Procedure:</a:t>
            </a:r>
          </a:p>
          <a:p>
            <a:r>
              <a:rPr lang="en-US" dirty="0" err="1">
                <a:latin typeface="Book Antiqua" panose="02040602050305030304" pitchFamily="18" charset="0"/>
              </a:rPr>
              <a:t>XTD_FND_INT_TXTFILE_PKG.write_rcpt_txtfile</a:t>
            </a:r>
            <a:endParaRPr lang="en-US" dirty="0" smtClean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1259" y="1149988"/>
            <a:ext cx="2599949" cy="21253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598" y="1542831"/>
            <a:ext cx="2798854" cy="133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8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225" y="0"/>
            <a:ext cx="1621775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88471" y="962212"/>
            <a:ext cx="8474635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92847" y="824753"/>
            <a:ext cx="87376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4</a:t>
            </a:r>
            <a:r>
              <a:rPr lang="en-US" dirty="0" smtClean="0">
                <a:latin typeface="Book Antiqua" panose="02040602050305030304" pitchFamily="18" charset="0"/>
              </a:rPr>
              <a:t>. Form Personalization</a:t>
            </a: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endParaRPr lang="en-US" dirty="0" smtClean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  <a:p>
            <a:endParaRPr lang="en-US" dirty="0" smtClean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  <a:p>
            <a:r>
              <a:rPr lang="en-US" sz="800" dirty="0" smtClean="0">
                <a:latin typeface="Book Antiqua" panose="02040602050305030304" pitchFamily="18" charset="0"/>
              </a:rPr>
              <a:t>Condition:</a:t>
            </a:r>
          </a:p>
          <a:p>
            <a:r>
              <a:rPr lang="en-US" sz="800" dirty="0">
                <a:latin typeface="Book Antiqua" panose="02040602050305030304" pitchFamily="18" charset="0"/>
              </a:rPr>
              <a:t>0=(select count(1) from XTD_OM_PRINCIPAL_DO_STG where </a:t>
            </a:r>
            <a:r>
              <a:rPr lang="en-US" sz="800" dirty="0" err="1">
                <a:latin typeface="Book Antiqua" panose="02040602050305030304" pitchFamily="18" charset="0"/>
              </a:rPr>
              <a:t>po_number</a:t>
            </a:r>
            <a:r>
              <a:rPr lang="en-US" sz="800" dirty="0">
                <a:latin typeface="Book Antiqua" panose="02040602050305030304" pitchFamily="18" charset="0"/>
              </a:rPr>
              <a:t> = :RCV_TRANSACTION.ORDER_NUMBER_DSP and </a:t>
            </a:r>
            <a:r>
              <a:rPr lang="en-US" sz="800" dirty="0" err="1">
                <a:latin typeface="Book Antiqua" panose="02040602050305030304" pitchFamily="18" charset="0"/>
              </a:rPr>
              <a:t>no_do</a:t>
            </a:r>
            <a:r>
              <a:rPr lang="en-US" sz="800" dirty="0">
                <a:latin typeface="Book Antiqua" panose="02040602050305030304" pitchFamily="18" charset="0"/>
              </a:rPr>
              <a:t>= :HEADER.PACKING_SLIP)</a:t>
            </a:r>
          </a:p>
          <a:p>
            <a:r>
              <a:rPr lang="en-US" sz="800" dirty="0">
                <a:latin typeface="Book Antiqua" panose="02040602050305030304" pitchFamily="18" charset="0"/>
              </a:rPr>
              <a:t>and :RCV_TRANSACTION.ITEM_NUMBER like 'RK%' and (:HEADER.SOURCE like 'NIKO%' OR :HEADER.SOURCE like 'NIKKI%' OR :HEADER.SOURCE like 'NOJO%' OR :HEADER.SOURCE like 'AROMAI</a:t>
            </a:r>
            <a:r>
              <a:rPr lang="en-US" sz="800" dirty="0" smtClean="0">
                <a:latin typeface="Book Antiqua" panose="02040602050305030304" pitchFamily="18" charset="0"/>
              </a:rPr>
              <a:t>%')</a:t>
            </a:r>
          </a:p>
          <a:p>
            <a:endParaRPr lang="en-US" sz="800" dirty="0">
              <a:latin typeface="Book Antiqua" panose="02040602050305030304" pitchFamily="18" charset="0"/>
            </a:endParaRPr>
          </a:p>
          <a:p>
            <a:r>
              <a:rPr lang="en-US" sz="800" dirty="0" smtClean="0">
                <a:latin typeface="Book Antiqua" panose="02040602050305030304" pitchFamily="18" charset="0"/>
              </a:rPr>
              <a:t>Actions:</a:t>
            </a:r>
          </a:p>
          <a:p>
            <a:r>
              <a:rPr lang="en-US" sz="800" dirty="0" smtClean="0">
                <a:latin typeface="Book Antiqua" panose="02040602050305030304" pitchFamily="18" charset="0"/>
              </a:rPr>
              <a:t>Message Type = Error</a:t>
            </a:r>
          </a:p>
          <a:p>
            <a:r>
              <a:rPr lang="en-US" sz="800" dirty="0">
                <a:latin typeface="Book Antiqua" panose="02040602050305030304" pitchFamily="18" charset="0"/>
              </a:rPr>
              <a:t>Message Text = Kombinasi Nomor Surat Jalan </a:t>
            </a:r>
            <a:r>
              <a:rPr lang="en-US" sz="800" dirty="0" err="1">
                <a:latin typeface="Book Antiqua" panose="02040602050305030304" pitchFamily="18" charset="0"/>
              </a:rPr>
              <a:t>Prinsipal</a:t>
            </a:r>
            <a:r>
              <a:rPr lang="en-US" sz="800" dirty="0">
                <a:latin typeface="Book Antiqua" panose="02040602050305030304" pitchFamily="18" charset="0"/>
              </a:rPr>
              <a:t> dengan PO NNA tidak </a:t>
            </a:r>
            <a:r>
              <a:rPr lang="en-US" sz="800" dirty="0" err="1">
                <a:latin typeface="Book Antiqua" panose="02040602050305030304" pitchFamily="18" charset="0"/>
              </a:rPr>
              <a:t>ditemukan</a:t>
            </a:r>
            <a:r>
              <a:rPr lang="en-US" sz="800" dirty="0">
                <a:latin typeface="Book Antiqua" panose="02040602050305030304" pitchFamily="18" charset="0"/>
              </a:rPr>
              <a:t> di </a:t>
            </a:r>
            <a:r>
              <a:rPr lang="en-US" sz="800" dirty="0" err="1">
                <a:latin typeface="Book Antiqua" panose="02040602050305030304" pitchFamily="18" charset="0"/>
              </a:rPr>
              <a:t>di</a:t>
            </a:r>
            <a:r>
              <a:rPr lang="en-US" sz="800" dirty="0">
                <a:latin typeface="Book Antiqua" panose="02040602050305030304" pitchFamily="18" charset="0"/>
              </a:rPr>
              <a:t> staging </a:t>
            </a:r>
            <a:r>
              <a:rPr lang="en-US" sz="800" dirty="0" err="1">
                <a:latin typeface="Book Antiqua" panose="02040602050305030304" pitchFamily="18" charset="0"/>
              </a:rPr>
              <a:t>Prinsipal</a:t>
            </a:r>
            <a:endParaRPr lang="en-US" sz="800" dirty="0" smtClean="0">
              <a:latin typeface="Book Antiqua" panose="02040602050305030304" pitchFamily="18" charset="0"/>
            </a:endParaRPr>
          </a:p>
          <a:p>
            <a:endParaRPr lang="en-US" sz="800" dirty="0" smtClean="0">
              <a:latin typeface="Book Antiqua" panose="02040602050305030304" pitchFamily="18" charset="0"/>
            </a:endParaRPr>
          </a:p>
          <a:p>
            <a:endParaRPr lang="en-US" sz="800" dirty="0">
              <a:latin typeface="Book Antiqua" panose="02040602050305030304" pitchFamily="18" charset="0"/>
            </a:endParaRPr>
          </a:p>
          <a:p>
            <a:endParaRPr lang="en-US" sz="800" dirty="0">
              <a:latin typeface="Book Antiqua" panose="0204060205030503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59" y="1149988"/>
            <a:ext cx="3401732" cy="20410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0979" y="1149988"/>
            <a:ext cx="4132133" cy="198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56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225" y="0"/>
            <a:ext cx="1621775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88471" y="962212"/>
            <a:ext cx="8474635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92847" y="824753"/>
            <a:ext cx="8737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4</a:t>
            </a:r>
            <a:r>
              <a:rPr lang="en-US" dirty="0" smtClean="0">
                <a:latin typeface="Book Antiqua" panose="02040602050305030304" pitchFamily="18" charset="0"/>
              </a:rPr>
              <a:t>. Form Personalization (Contoh Hasil)</a:t>
            </a: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 smtClean="0">
              <a:latin typeface="Book Antiqua" panose="0204060205030503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Book Antiqua" panose="02040602050305030304" pitchFamily="18" charset="0"/>
            </a:endParaRPr>
          </a:p>
          <a:p>
            <a:endParaRPr lang="en-US" dirty="0" smtClean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  <a:p>
            <a:endParaRPr lang="en-US" dirty="0" smtClean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  <a:p>
            <a:endParaRPr lang="en-US" sz="800" dirty="0" smtClean="0">
              <a:latin typeface="Book Antiqua" panose="02040602050305030304" pitchFamily="18" charset="0"/>
            </a:endParaRPr>
          </a:p>
          <a:p>
            <a:endParaRPr lang="en-US" sz="800" dirty="0">
              <a:latin typeface="Book Antiqua" panose="02040602050305030304" pitchFamily="18" charset="0"/>
            </a:endParaRPr>
          </a:p>
          <a:p>
            <a:endParaRPr lang="en-US" sz="800" dirty="0">
              <a:latin typeface="Book Antiqua" panose="0204060205030503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3" r="14947" b="23009"/>
          <a:stretch/>
        </p:blipFill>
        <p:spPr>
          <a:xfrm>
            <a:off x="567763" y="1337764"/>
            <a:ext cx="4649695" cy="277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7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9"/>
          <p:cNvSpPr txBox="1">
            <a:spLocks noGrp="1"/>
          </p:cNvSpPr>
          <p:nvPr>
            <p:ph type="title"/>
          </p:nvPr>
        </p:nvSpPr>
        <p:spPr>
          <a:xfrm>
            <a:off x="1068900" y="2246100"/>
            <a:ext cx="7006200" cy="65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1"/>
                </a:solidFill>
              </a:rPr>
              <a:t>THANK YOU</a:t>
            </a:r>
            <a:endParaRPr sz="44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04338FE35CF0429535C5DA90C4613B" ma:contentTypeVersion="12" ma:contentTypeDescription="Create a new document." ma:contentTypeScope="" ma:versionID="eafb869c0feca0d31ecf23776be03e03">
  <xsd:schema xmlns:xsd="http://www.w3.org/2001/XMLSchema" xmlns:xs="http://www.w3.org/2001/XMLSchema" xmlns:p="http://schemas.microsoft.com/office/2006/metadata/properties" xmlns:ns2="ff530b1a-1f6d-4143-9713-75e2e178d7ae" xmlns:ns3="066815a7-cfb6-43ef-9784-406335ce1d29" targetNamespace="http://schemas.microsoft.com/office/2006/metadata/properties" ma:root="true" ma:fieldsID="4b0c7f72bb91f1eaaaf2b6d0975a7afe" ns2:_="" ns3:_="">
    <xsd:import namespace="ff530b1a-1f6d-4143-9713-75e2e178d7ae"/>
    <xsd:import namespace="066815a7-cfb6-43ef-9784-406335ce1d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530b1a-1f6d-4143-9713-75e2e178d7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f784234c-8723-40e8-b07d-346e94311c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815a7-cfb6-43ef-9784-406335ce1d2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40f671e-3eda-44e4-a6df-cc41d639bdf7}" ma:internalName="TaxCatchAll" ma:showField="CatchAllData" ma:web="066815a7-cfb6-43ef-9784-406335ce1d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f530b1a-1f6d-4143-9713-75e2e178d7ae">
      <Terms xmlns="http://schemas.microsoft.com/office/infopath/2007/PartnerControls"/>
    </lcf76f155ced4ddcb4097134ff3c332f>
    <TaxCatchAll xmlns="066815a7-cfb6-43ef-9784-406335ce1d2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D5F658-409B-4FEE-8000-20D8DE2735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530b1a-1f6d-4143-9713-75e2e178d7ae"/>
    <ds:schemaRef ds:uri="066815a7-cfb6-43ef-9784-406335ce1d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07B71BB-C137-40B1-BA38-BCF82DADBA45}">
  <ds:schemaRefs>
    <ds:schemaRef ds:uri="http://schemas.microsoft.com/office/2006/metadata/properties"/>
    <ds:schemaRef ds:uri="http://schemas.microsoft.com/office/infopath/2007/PartnerControls"/>
    <ds:schemaRef ds:uri="ff530b1a-1f6d-4143-9713-75e2e178d7ae"/>
    <ds:schemaRef ds:uri="066815a7-cfb6-43ef-9784-406335ce1d29"/>
  </ds:schemaRefs>
</ds:datastoreItem>
</file>

<file path=customXml/itemProps3.xml><?xml version="1.0" encoding="utf-8"?>
<ds:datastoreItem xmlns:ds="http://schemas.openxmlformats.org/officeDocument/2006/customXml" ds:itemID="{5B200FBF-5F72-4344-A8FB-F7761129B6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329</Words>
  <Application>Microsoft Office PowerPoint</Application>
  <PresentationFormat>On-screen Show (16:9)</PresentationFormat>
  <Paragraphs>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Inter Light</vt:lpstr>
      <vt:lpstr>Inter</vt:lpstr>
      <vt:lpstr>Arial</vt:lpstr>
      <vt:lpstr>Book Antiqua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IWAN HERDIAN</cp:lastModifiedBy>
  <cp:revision>14</cp:revision>
  <dcterms:modified xsi:type="dcterms:W3CDTF">2025-10-07T00:56:23Z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0x0101006B04338FE35CF0429535C5DA90C4613B</vt:lpwstr>
  </property>
</Properties>
</file>